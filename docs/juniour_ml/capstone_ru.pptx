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1" r:id="rId4"/>
  </p:sldMasterIdLst>
  <p:notesMasterIdLst>
    <p:notesMasterId r:id="rId5"/>
  </p:notesMasterIdLst>
  <p:sldIdLst>
    <p:sldId id="257" r:id="rId7"/>
    <p:sldId id="266" r:id="rId16"/>
    <p:sldId id="263" r:id="rId13"/>
    <p:sldId id="268" r:id="rId18"/>
    <p:sldId id="259" r:id="rId9"/>
    <p:sldId id="264" r:id="rId14"/>
    <p:sldId id="261" r:id="rId11"/>
    <p:sldId id="265" r:id="rId15"/>
    <p:sldId id="262" r:id="rId12"/>
    <p:sldId id="270" r:id="rId24"/>
    <p:sldId id="271" r:id="rId25"/>
    <p:sldId id="269" r:id="rId19"/>
  </p:sldIdLst>
  <p:sldSz cy="5143500" cx="9144000"/>
  <p:notesSz cx="6858000" cy="9144000"/>
  <p:embeddedFontLst>
    <p:embeddedFont>
      <p:font typeface="Inter"/>
      <p:regular r:id="rId20"/>
      <p:bold r:id="rId21"/>
      <p:italic r:id="rId22"/>
      <p:boldItalic r:id="rId2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7" Type="http://schemas.openxmlformats.org/officeDocument/2006/relationships/slide" Target="slides/slide2.xml"/><Relationship Id="rId9" Type="http://schemas.openxmlformats.org/officeDocument/2006/relationships/slide" Target="slides/slide4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font" Target="fonts/Inter-regular.fntdata"/><Relationship Id="rId21" Type="http://schemas.openxmlformats.org/officeDocument/2006/relationships/font" Target="fonts/Inter-bold.fntdata"/><Relationship Id="rId22" Type="http://schemas.openxmlformats.org/officeDocument/2006/relationships/font" Target="fonts/Inter-italic.fntdata"/><Relationship Id="rId23" Type="http://schemas.openxmlformats.org/officeDocument/2006/relationships/font" Target="fonts/Inter-boldItalic.fntdata"/><Relationship Id="rId24" Type="http://schemas.openxmlformats.org/officeDocument/2006/relationships/slide" Target="slides/slide15.xml"/><Relationship Id="rId25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249cb922a79_1_11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0" name="Google Shape;70;g249cb922a79_1_11:notes"/>
          <p:cNvSpPr txBox="1"/>
          <p:nvPr>
            <p:ph idx="1" type="body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g249cb922a79_1_11:notes"/>
          <p:cNvSpPr txBox="1"/>
          <p:nvPr>
            <p:ph idx="12" type="sldNum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249cb922a79_1_29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0" name="Google Shape;90;g249cb922a79_1_29:notes"/>
          <p:cNvSpPr txBox="1"/>
          <p:nvPr>
            <p:ph idx="1" type="body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g249cb922a79_1_29:notes"/>
          <p:cNvSpPr txBox="1"/>
          <p:nvPr>
            <p:ph idx="12" type="sldNum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249cb922a79_1_57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0" name="Google Shape;120;g249cb922a79_1_57:notes"/>
          <p:cNvSpPr txBox="1"/>
          <p:nvPr>
            <p:ph idx="1" type="body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g249cb922a79_1_57:notes"/>
          <p:cNvSpPr txBox="1"/>
          <p:nvPr>
            <p:ph idx="12" type="sldNum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249cb922a79_1_69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g249cb922a79_1_69:notes"/>
          <p:cNvSpPr txBox="1"/>
          <p:nvPr>
            <p:ph idx="1" type="body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3" name="Google Shape;133;g249cb922a79_1_69:notes"/>
          <p:cNvSpPr txBox="1"/>
          <p:nvPr>
            <p:ph idx="12" type="sldNum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49cb922a79_1_81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5" name="Google Shape;145;g249cb922a79_1_81:notes"/>
          <p:cNvSpPr txBox="1"/>
          <p:nvPr>
            <p:ph idx="1" type="body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g249cb922a79_1_81:notes"/>
          <p:cNvSpPr txBox="1"/>
          <p:nvPr>
            <p:ph idx="12" type="sldNum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249cb922a79_1_97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2" name="Google Shape;162;g249cb922a79_1_97:notes"/>
          <p:cNvSpPr txBox="1"/>
          <p:nvPr>
            <p:ph idx="1" type="body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3" name="Google Shape;163;g249cb922a79_1_97:notes"/>
          <p:cNvSpPr txBox="1"/>
          <p:nvPr>
            <p:ph idx="12" type="sldNum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g249cb922a79_1_114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0" name="Google Shape;180;g249cb922a79_1_114:notes"/>
          <p:cNvSpPr txBox="1"/>
          <p:nvPr>
            <p:ph idx="1" type="body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1" name="Google Shape;181;g249cb922a79_1_114:notes"/>
          <p:cNvSpPr txBox="1"/>
          <p:nvPr>
            <p:ph idx="12" type="sldNum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249cb922a79_1_121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8" name="Google Shape;188;g249cb922a79_1_121:notes"/>
          <p:cNvSpPr txBox="1"/>
          <p:nvPr>
            <p:ph idx="1" type="body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g249cb922a79_1_121:notes"/>
          <p:cNvSpPr txBox="1"/>
          <p:nvPr>
            <p:ph idx="12" type="sldNum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g249cb922a79_1_143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2" name="Google Shape;212;g249cb922a79_1_143:notes"/>
          <p:cNvSpPr txBox="1"/>
          <p:nvPr>
            <p:ph idx="1" type="body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3" name="Google Shape;213;g249cb922a79_1_143:notes"/>
          <p:cNvSpPr txBox="1"/>
          <p:nvPr>
            <p:ph idx="12" type="sldNum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g249cb922a79_1_166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6" name="Google Shape;236;g249cb922a79_1_166:notes"/>
          <p:cNvSpPr txBox="1"/>
          <p:nvPr>
            <p:ph idx="1" type="body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7" name="Google Shape;237;g249cb922a79_1_166:notes"/>
          <p:cNvSpPr txBox="1"/>
          <p:nvPr>
            <p:ph idx="12" type="sldNum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Титульный слайд 1">
  <p:cSld name="Титульный слайд"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4"/>
          <p:cNvSpPr txBox="1"/>
          <p:nvPr>
            <p:ph idx="10" type="dt"/>
          </p:nvPr>
        </p:nvSpPr>
        <p:spPr>
          <a:xfrm>
            <a:off x="457200" y="4767263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14"/>
          <p:cNvSpPr txBox="1"/>
          <p:nvPr>
            <p:ph idx="11" type="ftr"/>
          </p:nvPr>
        </p:nvSpPr>
        <p:spPr>
          <a:xfrm>
            <a:off x="3124200" y="4767263"/>
            <a:ext cx="2895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14"/>
          <p:cNvSpPr txBox="1"/>
          <p:nvPr>
            <p:ph idx="12" type="sldNum"/>
          </p:nvPr>
        </p:nvSpPr>
        <p:spPr>
          <a:xfrm>
            <a:off x="6553200" y="4767263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rtl="0" algn="r">
              <a:spcBef>
                <a:spcPts val="0"/>
              </a:spcBef>
              <a:buNone/>
              <a:defRPr/>
            </a:lvl1pPr>
            <a:lvl2pPr indent="0" lvl="1" marL="0" rtl="0" algn="r">
              <a:spcBef>
                <a:spcPts val="0"/>
              </a:spcBef>
              <a:buNone/>
              <a:defRPr/>
            </a:lvl2pPr>
            <a:lvl3pPr indent="0" lvl="2" marL="0" rtl="0" algn="r">
              <a:spcBef>
                <a:spcPts val="0"/>
              </a:spcBef>
              <a:buNone/>
              <a:defRPr/>
            </a:lvl3pPr>
            <a:lvl4pPr indent="0" lvl="3" marL="0" rtl="0" algn="r">
              <a:spcBef>
                <a:spcPts val="0"/>
              </a:spcBef>
              <a:buNone/>
              <a:defRPr/>
            </a:lvl4pPr>
            <a:lvl5pPr indent="0" lvl="4" marL="0" rtl="0" algn="r">
              <a:spcBef>
                <a:spcPts val="0"/>
              </a:spcBef>
              <a:buNone/>
              <a:defRPr/>
            </a:lvl5pPr>
            <a:lvl6pPr indent="0" lvl="5" marL="0" rtl="0" algn="r">
              <a:spcBef>
                <a:spcPts val="0"/>
              </a:spcBef>
              <a:buNone/>
              <a:defRPr/>
            </a:lvl6pPr>
            <a:lvl7pPr indent="0" lvl="6" marL="0" rtl="0" algn="r">
              <a:spcBef>
                <a:spcPts val="0"/>
              </a:spcBef>
              <a:buNone/>
              <a:defRPr/>
            </a:lvl7pPr>
            <a:lvl8pPr indent="0" lvl="7" marL="0" rtl="0" algn="r">
              <a:spcBef>
                <a:spcPts val="0"/>
              </a:spcBef>
              <a:buNone/>
              <a:defRPr/>
            </a:lvl8pPr>
            <a:lvl9pPr indent="0" lvl="8" marL="0" rt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55" name="Google Shape;55;p14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4.png"/><Relationship Id="rId4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5.png"/><Relationship Id="rId4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5.png"/></Relationships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0FF"/>
        </a:solidFill>
      </p:bgPr>
    </p:bg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6"/>
          <p:cNvSpPr/>
          <p:nvPr/>
        </p:nvSpPr>
        <p:spPr>
          <a:xfrm>
            <a:off x="476250" y="2258372"/>
            <a:ext cx="67395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ru" sz="38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Lecture Autosummary —</a:t>
            </a:r>
            <a:endParaRPr i="0" sz="38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ru" sz="38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конспект и квиз</a:t>
            </a:r>
            <a:endParaRPr i="0" sz="38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4" name="Google Shape;74;p16"/>
          <p:cNvSpPr/>
          <p:nvPr/>
        </p:nvSpPr>
        <p:spPr>
          <a:xfrm>
            <a:off x="476250" y="3569481"/>
            <a:ext cx="68580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ru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Обоснованный конспект и адаптивный квиз из видео и слайдов  ·  Шамиль Арсланов  ·  Harbour Space  ·  2026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https://pitch-assets-ccb95893-de3f-4266-973c-20049231b248.s3.eu-west-1.amazonaws.com/0e85026a-008d-4f73-b555-d556e9b7acd4?pitch-bytes=4898&amp;pitch-content-type=image%2Fsvg%2Bxml" id="75" name="Google Shape;75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80574" y="4476231"/>
            <a:ext cx="707491" cy="19137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s://pitch-assets-ccb95893-de3f-4266-973c-20049231b248.s3.eu-west-1.amazonaws.com/efa381c9-5c10-4380-abee-d4f3f03ddc9d?pitch-bytes=3032&amp;pitch-content-type=image%2Fsvg%2Bxml" id="76" name="Google Shape;7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992007" y="4534270"/>
            <a:ext cx="1673573" cy="137554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01422" y="307125"/>
            <a:ext cx="1673574" cy="4625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C"/>
        </a:solidFill>
      </p:bgPr>
    </p:bg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8"/>
          <p:cNvSpPr/>
          <p:nvPr/>
        </p:nvSpPr>
        <p:spPr>
          <a:xfrm>
            <a:off x="476208" y="1581699"/>
            <a:ext cx="38730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ru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«Deep Learning and Computer Vision» — Harbour Space 2026, С. Николенко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18"/>
          <p:cNvSpPr/>
          <p:nvPr/>
        </p:nvSpPr>
        <p:spPr>
          <a:xfrm>
            <a:off x="4793081" y="1581506"/>
            <a:ext cx="38694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ru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Плотная математика: формулы и терминология нагружают и STT, и суммаризацию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18"/>
          <p:cNvSpPr/>
          <p:nvPr/>
        </p:nvSpPr>
        <p:spPr>
          <a:xfrm>
            <a:off x="473656" y="2387964"/>
            <a:ext cx="38736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ru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Ручная разметка: золотой транскрипт 19,5 мин для WER и 40 пар для калибровки судьи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18"/>
          <p:cNvSpPr/>
          <p:nvPr/>
        </p:nvSpPr>
        <p:spPr>
          <a:xfrm>
            <a:off x="476250" y="4475558"/>
            <a:ext cx="17145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ru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лекций: видео + слайды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18"/>
          <p:cNvSpPr/>
          <p:nvPr/>
        </p:nvSpPr>
        <p:spPr>
          <a:xfrm>
            <a:off x="2634524" y="4475558"/>
            <a:ext cx="17157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ru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видео лекций в 1080p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18"/>
          <p:cNvSpPr/>
          <p:nvPr/>
        </p:nvSpPr>
        <p:spPr>
          <a:xfrm>
            <a:off x="4793914" y="4475558"/>
            <a:ext cx="17166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ru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страниц слайдов (PDF)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18"/>
          <p:cNvSpPr/>
          <p:nvPr/>
        </p:nvSpPr>
        <p:spPr>
          <a:xfrm>
            <a:off x="6954421" y="4475764"/>
            <a:ext cx="17142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ru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студентов проходят квизы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18"/>
          <p:cNvSpPr/>
          <p:nvPr/>
        </p:nvSpPr>
        <p:spPr>
          <a:xfrm>
            <a:off x="476250" y="3963192"/>
            <a:ext cx="1714500" cy="366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107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ru" sz="2600" u="none" cap="none" strike="noStrike">
                <a:solidFill>
                  <a:srgbClr val="0000FF"/>
                </a:solidFill>
                <a:latin typeface="Inter"/>
                <a:ea typeface="Inter"/>
                <a:cs typeface="Inter"/>
                <a:sym typeface="Inter"/>
              </a:rPr>
              <a:t>9</a:t>
            </a:r>
            <a:endParaRPr i="0" sz="2625" u="none" cap="none" strike="noStrike">
              <a:solidFill>
                <a:srgbClr val="0000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01" name="Google Shape;101;p18"/>
          <p:cNvSpPr/>
          <p:nvPr/>
        </p:nvSpPr>
        <p:spPr>
          <a:xfrm>
            <a:off x="2634666" y="3963367"/>
            <a:ext cx="1714500" cy="366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107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ru" sz="2600" u="none" cap="none" strike="noStrike">
                <a:solidFill>
                  <a:srgbClr val="0000FF"/>
                </a:solidFill>
                <a:latin typeface="Inter"/>
                <a:ea typeface="Inter"/>
                <a:cs typeface="Inter"/>
                <a:sym typeface="Inter"/>
              </a:rPr>
              <a:t>21,3 ч</a:t>
            </a:r>
            <a:endParaRPr i="0" sz="2625" u="none" cap="none" strike="noStrike">
              <a:solidFill>
                <a:srgbClr val="0000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02" name="Google Shape;102;p18"/>
          <p:cNvSpPr/>
          <p:nvPr/>
        </p:nvSpPr>
        <p:spPr>
          <a:xfrm>
            <a:off x="4793081" y="3963475"/>
            <a:ext cx="1714500" cy="366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107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ru" sz="2600" u="none" cap="none" strike="noStrike">
                <a:solidFill>
                  <a:srgbClr val="0000FF"/>
                </a:solidFill>
                <a:latin typeface="Inter"/>
                <a:ea typeface="Inter"/>
                <a:cs typeface="Inter"/>
                <a:sym typeface="Inter"/>
              </a:rPr>
              <a:t>619</a:t>
            </a:r>
            <a:endParaRPr i="0" sz="2625" u="none" cap="none" strike="noStrike">
              <a:solidFill>
                <a:srgbClr val="0000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03" name="Google Shape;103;p18"/>
          <p:cNvSpPr/>
          <p:nvPr/>
        </p:nvSpPr>
        <p:spPr>
          <a:xfrm>
            <a:off x="6951497" y="3963583"/>
            <a:ext cx="1714500" cy="366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107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ru" sz="2600" u="none" cap="none" strike="noStrike">
                <a:solidFill>
                  <a:srgbClr val="0000FF"/>
                </a:solidFill>
                <a:latin typeface="Inter"/>
                <a:ea typeface="Inter"/>
                <a:cs typeface="Inter"/>
                <a:sym typeface="Inter"/>
              </a:rPr>
              <a:t>~15</a:t>
            </a:r>
            <a:endParaRPr i="0" sz="2625" u="none" cap="none" strike="noStrike">
              <a:solidFill>
                <a:srgbClr val="0000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04" name="Google Shape;104;p18"/>
          <p:cNvSpPr/>
          <p:nvPr/>
        </p:nvSpPr>
        <p:spPr>
          <a:xfrm>
            <a:off x="8173388" y="416837"/>
            <a:ext cx="494100" cy="26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40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ru" sz="17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  <a:r>
              <a:rPr lang="ru" sz="1700"/>
              <a:t/>
            </a:r>
            <a:endParaRPr b="0" i="0" sz="1688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18"/>
          <p:cNvSpPr/>
          <p:nvPr/>
        </p:nvSpPr>
        <p:spPr>
          <a:xfrm>
            <a:off x="476250" y="906158"/>
            <a:ext cx="5566500" cy="366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107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ru" sz="2600" u="none" cap="none" strike="noStrik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Данные: настоящий курс</a:t>
            </a:r>
            <a:endParaRPr i="0" sz="2625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06" name="Google Shape;106;p18"/>
          <p:cNvSpPr/>
          <p:nvPr/>
        </p:nvSpPr>
        <p:spPr>
          <a:xfrm>
            <a:off x="333375" y="1579487"/>
            <a:ext cx="56400" cy="204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ru" sz="1200" u="none" cap="none" strike="noStrike">
                <a:solidFill>
                  <a:srgbClr val="8843FF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18"/>
          <p:cNvSpPr/>
          <p:nvPr/>
        </p:nvSpPr>
        <p:spPr>
          <a:xfrm>
            <a:off x="333375" y="2388285"/>
            <a:ext cx="56400" cy="204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ru" sz="1200" u="none" cap="none" strike="noStrike">
                <a:solidFill>
                  <a:srgbClr val="8843FF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18"/>
          <p:cNvSpPr/>
          <p:nvPr/>
        </p:nvSpPr>
        <p:spPr>
          <a:xfrm>
            <a:off x="4650015" y="1578879"/>
            <a:ext cx="56400" cy="204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ru" sz="1200" u="none" cap="none" strike="noStrike">
                <a:solidFill>
                  <a:srgbClr val="8843FF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9" name="Google Shape;109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6250" y="320900"/>
            <a:ext cx="1536343" cy="424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C"/>
        </a:solidFill>
      </p:bgPr>
    </p:bg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20"/>
          <p:cNvSpPr/>
          <p:nvPr/>
        </p:nvSpPr>
        <p:spPr>
          <a:xfrm>
            <a:off x="380593" y="4326797"/>
            <a:ext cx="2103120" cy="344400"/>
          </a:xfrm>
          <a:prstGeom prst="roundRect">
            <a:avLst>
              <a:gd fmla="val -265404" name="adj"/>
            </a:avLst>
          </a:prstGeom>
          <a:solidFill>
            <a:srgbClr val="0000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20"/>
          <p:cNvSpPr/>
          <p:nvPr/>
        </p:nvSpPr>
        <p:spPr>
          <a:xfrm>
            <a:off x="476250" y="906158"/>
            <a:ext cx="5566500" cy="366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107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ru" sz="2600" u="none" cap="none" strike="noStrik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E1: рост всех метрик</a:t>
            </a:r>
            <a:endParaRPr i="0" sz="2625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26" name="Google Shape;126;p20"/>
          <p:cNvSpPr/>
          <p:nvPr/>
        </p:nvSpPr>
        <p:spPr>
          <a:xfrm>
            <a:off x="476208" y="1581699"/>
            <a:ext cx="38730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i="0" lang="ru" sz="1200" u="none" cap="none" strike="noStrik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Лекция 6: конспект из сырого ASR (серый) против конспекта из восстановленной расшифровки (синий). После очистки текст короче в 5 раз, но извлекаемых фактов больше: 526 против 449.</a:t>
            </a:r>
            <a:endParaRPr i="0" sz="12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28" name="Google Shape;128;p20"/>
          <p:cNvSpPr/>
          <p:nvPr/>
        </p:nvSpPr>
        <p:spPr>
          <a:xfrm>
            <a:off x="8089402" y="416825"/>
            <a:ext cx="578100" cy="26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40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700">
                <a:latin typeface="Inter"/>
                <a:ea typeface="Inter"/>
                <a:cs typeface="Inter"/>
                <a:sym typeface="Inter"/>
              </a:rPr>
              <a:t>2026</a:t>
            </a:r>
            <a:endParaRPr i="0" sz="1688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29" name="Google Shape;129;p20"/>
          <p:cNvSpPr/>
          <p:nvPr/>
        </p:nvSpPr>
        <p:spPr>
          <a:xfrm>
            <a:off x="476250" y="4404625"/>
            <a:ext cx="192024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i="0" lang="ru" sz="1200" u="none" cap="none" strike="noStrik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F1: 60,7 → 72,6</a:t>
            </a:r>
            <a:endParaRPr i="0" sz="1200" u="none" cap="none" strike="noStrike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30" name="Rectangle 129"/>
          <p:cNvSpPr/>
          <p:nvPr/>
        </p:nvSpPr>
        <p:spPr>
          <a:xfrm>
            <a:off x="457200" y="2532888"/>
            <a:ext cx="128016" cy="128016"/>
          </a:xfrm>
          <a:prstGeom prst="rect">
            <a:avLst/>
          </a:prstGeom>
          <a:solidFill>
            <a:srgbClr val="C7C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58368" y="2505456"/>
            <a:ext cx="3200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66670"/>
                </a:solidFill>
                <a:latin typeface="Inter"/>
              </a:rPr>
              <a:t>сырой ASR (46 тыс. слов)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457200" y="2788920"/>
            <a:ext cx="128016" cy="128016"/>
          </a:xfrm>
          <a:prstGeom prst="rect">
            <a:avLst/>
          </a:prstGeom>
          <a:solidFill>
            <a:srgbClr val="00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658368" y="2761488"/>
            <a:ext cx="35661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66670"/>
                </a:solidFill>
                <a:latin typeface="Inter"/>
              </a:rPr>
              <a:t>восстановленная расшифровка (8,6 тыс. слов)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389120" y="1371600"/>
            <a:ext cx="40233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>
                <a:solidFill>
                  <a:srgbClr val="0B0B0B"/>
                </a:solidFill>
                <a:latin typeface="Inter"/>
              </a:rPr>
              <a:t>Покрытие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4389120" y="1591056"/>
            <a:ext cx="1675729" cy="137160"/>
          </a:xfrm>
          <a:prstGeom prst="rect">
            <a:avLst/>
          </a:prstGeom>
          <a:solidFill>
            <a:srgbClr val="C7C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6138001" y="1577340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666670"/>
                </a:solidFill>
                <a:latin typeface="Inter"/>
              </a:rPr>
              <a:t>53,9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4389120" y="1764792"/>
            <a:ext cx="1943100" cy="137160"/>
          </a:xfrm>
          <a:prstGeom prst="rect">
            <a:avLst/>
          </a:prstGeom>
          <a:solidFill>
            <a:srgbClr val="00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6405372" y="1760220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0000FF"/>
                </a:solidFill>
                <a:latin typeface="Inter"/>
              </a:rPr>
              <a:t>62,5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389120" y="2103120"/>
            <a:ext cx="40233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>
                <a:solidFill>
                  <a:srgbClr val="0B0B0B"/>
                </a:solidFill>
                <a:latin typeface="Inter"/>
              </a:rPr>
              <a:t>Фактическая точность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389120" y="2322576"/>
            <a:ext cx="2157618" cy="137160"/>
          </a:xfrm>
          <a:prstGeom prst="rect">
            <a:avLst/>
          </a:prstGeom>
          <a:solidFill>
            <a:srgbClr val="C7C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619890" y="2308860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666670"/>
                </a:solidFill>
                <a:latin typeface="Inter"/>
              </a:rPr>
              <a:t>69,4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4389120" y="2496312"/>
            <a:ext cx="2689250" cy="137160"/>
          </a:xfrm>
          <a:prstGeom prst="rect">
            <a:avLst/>
          </a:prstGeom>
          <a:solidFill>
            <a:srgbClr val="00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7151522" y="2491739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0000FF"/>
                </a:solidFill>
                <a:latin typeface="Inter"/>
              </a:rPr>
              <a:t>86,5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389120" y="2834639"/>
            <a:ext cx="40233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>
                <a:solidFill>
                  <a:srgbClr val="0B0B0B"/>
                </a:solidFill>
                <a:latin typeface="Inter"/>
              </a:rPr>
              <a:t>F1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4389120" y="3054096"/>
            <a:ext cx="1887138" cy="137160"/>
          </a:xfrm>
          <a:prstGeom prst="rect">
            <a:avLst/>
          </a:prstGeom>
          <a:solidFill>
            <a:srgbClr val="C7C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49410" y="3040379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666670"/>
                </a:solidFill>
                <a:latin typeface="Inter"/>
              </a:rPr>
              <a:t>60,7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4389120" y="3227832"/>
            <a:ext cx="2257104" cy="137160"/>
          </a:xfrm>
          <a:prstGeom prst="rect">
            <a:avLst/>
          </a:prstGeom>
          <a:solidFill>
            <a:srgbClr val="00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6719376" y="3223259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0000FF"/>
                </a:solidFill>
                <a:latin typeface="Inter"/>
              </a:rPr>
              <a:t>72,6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4389120" y="3566159"/>
            <a:ext cx="40233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>
                <a:solidFill>
                  <a:srgbClr val="0B0B0B"/>
                </a:solidFill>
                <a:latin typeface="Inter"/>
              </a:rPr>
              <a:t>Сохранение устных фактов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4389120" y="3785615"/>
            <a:ext cx="1156533" cy="137160"/>
          </a:xfrm>
          <a:prstGeom prst="rect">
            <a:avLst/>
          </a:prstGeom>
          <a:solidFill>
            <a:srgbClr val="C7C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5618805" y="3771899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666670"/>
                </a:solidFill>
                <a:latin typeface="Inter"/>
              </a:rPr>
              <a:t>37,2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4389120" y="3959351"/>
            <a:ext cx="1507845" cy="137160"/>
          </a:xfrm>
          <a:prstGeom prst="rect">
            <a:avLst/>
          </a:prstGeom>
          <a:solidFill>
            <a:srgbClr val="00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5970117" y="3954779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0000FF"/>
                </a:solidFill>
                <a:latin typeface="Inter"/>
              </a:rPr>
              <a:t>48,5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C"/>
        </a:solidFill>
      </p:bgPr>
    </p:bg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1"/>
          <p:cNvSpPr/>
          <p:nvPr/>
        </p:nvSpPr>
        <p:spPr>
          <a:xfrm>
            <a:off x="476250" y="906158"/>
            <a:ext cx="5566500" cy="366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107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ru" sz="2600" u="none" cap="none" strike="noStrik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E2: WER в 7 раз ниже облака</a:t>
            </a:r>
            <a:endParaRPr i="0" sz="2625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36" name="Google Shape;136;p21"/>
          <p:cNvSpPr/>
          <p:nvPr/>
        </p:nvSpPr>
        <p:spPr>
          <a:xfrm>
            <a:off x="476208" y="1581699"/>
            <a:ext cx="38730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i="0" lang="ru" sz="1200" u="none" cap="none" strike="noStrik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Доля ошибок распознавания слов (WER) на золотом фрагменте 19,5 мин — меньше лучше</a:t>
            </a:r>
            <a:endParaRPr i="0" sz="12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39" name="Google Shape;139;p21"/>
          <p:cNvSpPr/>
          <p:nvPr/>
        </p:nvSpPr>
        <p:spPr>
          <a:xfrm>
            <a:off x="476208" y="2572634"/>
            <a:ext cx="38730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ru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whisper.cpp — локально, бесплатно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21"/>
          <p:cNvSpPr/>
          <p:nvPr/>
        </p:nvSpPr>
        <p:spPr>
          <a:xfrm>
            <a:off x="4982419" y="2573304"/>
            <a:ext cx="38730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ru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Google STT — облако, платно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21"/>
          <p:cNvSpPr/>
          <p:nvPr/>
        </p:nvSpPr>
        <p:spPr>
          <a:xfrm>
            <a:off x="8032578" y="416825"/>
            <a:ext cx="634800" cy="26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40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i="0" lang="ru" sz="1700" u="none" cap="none" strike="noStrik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2026</a:t>
            </a:r>
            <a:r>
              <a:rPr lang="ru" sz="1700">
                <a:latin typeface="Inter"/>
                <a:ea typeface="Inter"/>
                <a:cs typeface="Inter"/>
                <a:sym typeface="Inter"/>
              </a:rPr>
              <a:t/>
            </a:r>
            <a:endParaRPr i="0" sz="1688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142" name="Google Shape;142;p2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76250" y="320900"/>
            <a:ext cx="1536343" cy="424600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Rectangle 142"/>
          <p:cNvSpPr/>
          <p:nvPr/>
        </p:nvSpPr>
        <p:spPr>
          <a:xfrm>
            <a:off x="457200" y="3246120"/>
            <a:ext cx="3657600" cy="320040"/>
          </a:xfrm>
          <a:prstGeom prst="rect">
            <a:avLst/>
          </a:prstGeom>
          <a:solidFill>
            <a:srgbClr val="EC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457200" y="3246120"/>
            <a:ext cx="420623" cy="320040"/>
          </a:xfrm>
          <a:prstGeom prst="rect">
            <a:avLst/>
          </a:prstGeom>
          <a:solidFill>
            <a:srgbClr val="00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457200" y="3703320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0000FF"/>
                </a:solidFill>
                <a:latin typeface="Inter"/>
              </a:rPr>
              <a:t>2,3 %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200400" y="3767328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666670"/>
                </a:solidFill>
                <a:latin typeface="Inter"/>
              </a:rPr>
              <a:t>шкала 0–20 %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4937760" y="3246120"/>
            <a:ext cx="3657600" cy="320040"/>
          </a:xfrm>
          <a:prstGeom prst="rect">
            <a:avLst/>
          </a:prstGeom>
          <a:solidFill>
            <a:srgbClr val="EC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4937760" y="3246120"/>
            <a:ext cx="2980944" cy="320040"/>
          </a:xfrm>
          <a:prstGeom prst="rect">
            <a:avLst/>
          </a:prstGeom>
          <a:solidFill>
            <a:srgbClr val="C7C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4937760" y="3703320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666670"/>
                </a:solidFill>
                <a:latin typeface="Inter"/>
              </a:rPr>
              <a:t>16,3 %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7680960" y="3767328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666670"/>
                </a:solidFill>
                <a:latin typeface="Inter"/>
              </a:rPr>
              <a:t>шкала 0–20 %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C"/>
        </a:solidFill>
      </p:bgPr>
    </p:bg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2"/>
          <p:cNvSpPr/>
          <p:nvPr/>
        </p:nvSpPr>
        <p:spPr>
          <a:xfrm>
            <a:off x="476250" y="906158"/>
            <a:ext cx="5566500" cy="366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107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ru" sz="2600" u="none" cap="none" strike="noStrik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Решение: конспект + квиз</a:t>
            </a:r>
            <a:endParaRPr i="0" sz="2625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49" name="Google Shape;149;p22"/>
          <p:cNvSpPr/>
          <p:nvPr/>
        </p:nvSpPr>
        <p:spPr>
          <a:xfrm>
            <a:off x="476208" y="2509129"/>
            <a:ext cx="384048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ru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Конспект, где каждое утверждение помечено источником: слайд / речь / оба — сказанное не теряется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22"/>
          <p:cNvSpPr/>
          <p:nvPr/>
        </p:nvSpPr>
        <p:spPr>
          <a:xfrm>
            <a:off x="4754880" y="2508936"/>
            <a:ext cx="384048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ru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Квиз из 5 вопросов на лекцию, который сам улучшается по психометрике реальных попыток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22"/>
          <p:cNvSpPr/>
          <p:nvPr/>
        </p:nvSpPr>
        <p:spPr>
          <a:xfrm>
            <a:off x="476198" y="1662400"/>
            <a:ext cx="7772400" cy="366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107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ru" sz="1300" u="none" cap="none" strike="noStrik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Видео и PDF-слайды проходят через пайплайн STT → LLM → оценка:</a:t>
            </a:r>
            <a:endParaRPr i="0" sz="1313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52" name="Google Shape;152;p22"/>
          <p:cNvSpPr/>
          <p:nvPr/>
        </p:nvSpPr>
        <p:spPr>
          <a:xfrm>
            <a:off x="476208" y="2296524"/>
            <a:ext cx="384048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i="0" lang="ru" sz="1200" u="none" cap="none" strike="noStrike">
                <a:solidFill>
                  <a:srgbClr val="0000FF"/>
                </a:solidFill>
                <a:latin typeface="Inter"/>
                <a:ea typeface="Inter"/>
                <a:cs typeface="Inter"/>
                <a:sym typeface="Inter"/>
              </a:rPr>
              <a:t>01</a:t>
            </a:r>
            <a:endParaRPr i="0" sz="1200" u="none" cap="none" strike="noStrike">
              <a:solidFill>
                <a:srgbClr val="0000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53" name="Google Shape;153;p22"/>
          <p:cNvSpPr/>
          <p:nvPr/>
        </p:nvSpPr>
        <p:spPr>
          <a:xfrm>
            <a:off x="4754880" y="2297045"/>
            <a:ext cx="384048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i="0" lang="ru" sz="1200" u="none" cap="none" strike="noStrike">
                <a:solidFill>
                  <a:srgbClr val="0000FF"/>
                </a:solidFill>
                <a:latin typeface="Inter"/>
                <a:ea typeface="Inter"/>
                <a:cs typeface="Inter"/>
                <a:sym typeface="Inter"/>
              </a:rPr>
              <a:t>02</a:t>
            </a:r>
            <a:endParaRPr i="0" sz="1200" u="none" cap="none" strike="noStrike">
              <a:solidFill>
                <a:srgbClr val="0000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54" name="Google Shape;154;p22"/>
          <p:cNvSpPr/>
          <p:nvPr/>
        </p:nvSpPr>
        <p:spPr>
          <a:xfrm>
            <a:off x="476208" y="4092701"/>
            <a:ext cx="384048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ru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Веб-приложение курса: конспект → квиз → результаты; попытки сохраняются в SQLite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22"/>
          <p:cNvSpPr/>
          <p:nvPr/>
        </p:nvSpPr>
        <p:spPr>
          <a:xfrm>
            <a:off x="4754880" y="4092508"/>
            <a:ext cx="384048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ru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Метрика тезиса — доля устных фактов, доживших до конспекта; слайды сами по себе дают 0 %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22"/>
          <p:cNvSpPr/>
          <p:nvPr/>
        </p:nvSpPr>
        <p:spPr>
          <a:xfrm>
            <a:off x="476208" y="3880097"/>
            <a:ext cx="384048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i="0" lang="ru" sz="1200" u="none" cap="none" strike="noStrike">
                <a:solidFill>
                  <a:srgbClr val="0000FF"/>
                </a:solidFill>
                <a:latin typeface="Inter"/>
                <a:ea typeface="Inter"/>
                <a:cs typeface="Inter"/>
                <a:sym typeface="Inter"/>
              </a:rPr>
              <a:t>03</a:t>
            </a:r>
            <a:endParaRPr i="0" sz="1200" u="none" cap="none" strike="noStrike">
              <a:solidFill>
                <a:srgbClr val="0000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57" name="Google Shape;157;p22"/>
          <p:cNvSpPr/>
          <p:nvPr/>
        </p:nvSpPr>
        <p:spPr>
          <a:xfrm>
            <a:off x="4754880" y="3880617"/>
            <a:ext cx="384048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i="0" lang="ru" sz="1200" u="none" cap="none" strike="noStrike">
                <a:solidFill>
                  <a:srgbClr val="0000FF"/>
                </a:solidFill>
                <a:latin typeface="Inter"/>
                <a:ea typeface="Inter"/>
                <a:cs typeface="Inter"/>
                <a:sym typeface="Inter"/>
              </a:rPr>
              <a:t>04</a:t>
            </a:r>
            <a:endParaRPr i="0" sz="1200" u="none" cap="none" strike="noStrike">
              <a:solidFill>
                <a:srgbClr val="0000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159" name="Google Shape;159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6250" y="320900"/>
            <a:ext cx="1536343" cy="424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C"/>
        </a:solidFill>
      </p:bgPr>
    </p:bg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3"/>
          <p:cNvSpPr/>
          <p:nvPr/>
        </p:nvSpPr>
        <p:spPr>
          <a:xfrm>
            <a:off x="476250" y="906158"/>
            <a:ext cx="5566500" cy="366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107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ru" sz="2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E1: оцениваем факты, а не слова</a:t>
            </a:r>
            <a:endParaRPr b="0" i="0" sz="26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23"/>
          <p:cNvSpPr/>
          <p:nvPr/>
        </p:nvSpPr>
        <p:spPr>
          <a:xfrm>
            <a:off x="476208" y="2509129"/>
            <a:ext cx="24987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ru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entails(факт, источник): поиск top-16 по эмбеддингам + строгий LLM-судья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23"/>
          <p:cNvSpPr/>
          <p:nvPr/>
        </p:nvSpPr>
        <p:spPr>
          <a:xfrm>
            <a:off x="3322142" y="2508936"/>
            <a:ext cx="24924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ru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Источники ⊑ конспект → покрытие (recall)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3"/>
          <p:cNvSpPr/>
          <p:nvPr/>
        </p:nvSpPr>
        <p:spPr>
          <a:xfrm>
            <a:off x="476193" y="1662400"/>
            <a:ext cx="6912300" cy="366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107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ru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LLM разбивает слайды, расшифровку и конспект на атомарные утверждения (157 / 526 / 208):</a:t>
            </a:r>
            <a:endParaRPr b="0" i="0" sz="1313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476208" y="2296524"/>
            <a:ext cx="24987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ru" sz="1200" u="none" cap="none" strike="noStrike">
                <a:solidFill>
                  <a:srgbClr val="8843FF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3323786" y="2297045"/>
            <a:ext cx="24948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ru" sz="1200" u="none" cap="none" strike="noStrike">
                <a:solidFill>
                  <a:srgbClr val="8843FF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23"/>
          <p:cNvSpPr/>
          <p:nvPr/>
        </p:nvSpPr>
        <p:spPr>
          <a:xfrm>
            <a:off x="476208" y="4092701"/>
            <a:ext cx="24987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ru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Расшифровка ⊑ слайды → маска фактов, которых нет на слайдах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23"/>
          <p:cNvSpPr/>
          <p:nvPr/>
        </p:nvSpPr>
        <p:spPr>
          <a:xfrm>
            <a:off x="3322142" y="4092508"/>
            <a:ext cx="24924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ru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Метрика тезиса: сколько «только устных» фактов дожило до конспекта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23"/>
          <p:cNvSpPr/>
          <p:nvPr/>
        </p:nvSpPr>
        <p:spPr>
          <a:xfrm>
            <a:off x="476208" y="3880097"/>
            <a:ext cx="24987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ru" sz="1200" u="none" cap="none" strike="noStrike">
                <a:solidFill>
                  <a:srgbClr val="8843FF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23"/>
          <p:cNvSpPr/>
          <p:nvPr/>
        </p:nvSpPr>
        <p:spPr>
          <a:xfrm>
            <a:off x="3323786" y="3880617"/>
            <a:ext cx="24948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ru" sz="1200" u="none" cap="none" strike="noStrike">
                <a:solidFill>
                  <a:srgbClr val="8843FF"/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23"/>
          <p:cNvSpPr/>
          <p:nvPr/>
        </p:nvSpPr>
        <p:spPr>
          <a:xfrm>
            <a:off x="6170628" y="2508896"/>
            <a:ext cx="24924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ru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Конспект ⊑ источники → фактическая точность (precision)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23"/>
          <p:cNvSpPr/>
          <p:nvPr/>
        </p:nvSpPr>
        <p:spPr>
          <a:xfrm>
            <a:off x="6172272" y="2297005"/>
            <a:ext cx="24948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ru" sz="1200" u="none" cap="none" strike="noStrike">
                <a:solidFill>
                  <a:srgbClr val="8843FF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77" name="Google Shape;177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6250" y="320900"/>
            <a:ext cx="1536343" cy="424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0FF"/>
        </a:solidFill>
      </p:bgPr>
    </p:bg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24"/>
          <p:cNvSpPr/>
          <p:nvPr/>
        </p:nvSpPr>
        <p:spPr>
          <a:xfrm>
            <a:off x="476208" y="2651760"/>
            <a:ext cx="6654000" cy="1657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619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ru" sz="26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LLM-судья калиброван: κ = 0,95 на 40 ручных парах.</a:t>
            </a:r>
            <a:r>
              <a:rPr b="1" i="0" lang="ru" sz="2600" u="none" cap="none" strike="noStrik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Ноль ложных срабатываний, один пропуск.</a:t>
            </a:r>
            <a:endParaRPr i="0" sz="2625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8004154" y="416825"/>
            <a:ext cx="663300" cy="26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40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i="0" lang="ru" sz="17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2026</a:t>
            </a:r>
            <a:r>
              <a:rPr lang="ru" sz="17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/>
            </a:r>
            <a:endParaRPr i="0" sz="1688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185" name="Google Shape;185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1422" y="307125"/>
            <a:ext cx="1673574" cy="4625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C"/>
        </a:solidFill>
      </p:bgPr>
    </p:bg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/>
          <p:nvPr/>
        </p:nvSpPr>
        <p:spPr>
          <a:xfrm>
            <a:off x="476250" y="906158"/>
            <a:ext cx="4114800" cy="366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107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ru" sz="2600" u="none" cap="none" strike="noStrik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Проблема: оба артефакта подводят</a:t>
            </a:r>
            <a:endParaRPr i="0" sz="2625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76208" y="2644576"/>
            <a:ext cx="38670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ru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Запись лекции идёт 2–3,5 часа — слишком долго, чтобы пересматривать её перед экзаменом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25"/>
          <p:cNvSpPr/>
          <p:nvPr/>
        </p:nvSpPr>
        <p:spPr>
          <a:xfrm>
            <a:off x="476208" y="2431971"/>
            <a:ext cx="38670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i="0" lang="ru" sz="1200" u="none" cap="none" strike="noStrike">
                <a:solidFill>
                  <a:srgbClr val="0000FF"/>
                </a:solidFill>
                <a:latin typeface="Inter"/>
                <a:ea typeface="Inter"/>
                <a:cs typeface="Inter"/>
                <a:sym typeface="Inter"/>
              </a:rPr>
              <a:t>01</a:t>
            </a:r>
            <a:endParaRPr i="0" sz="1200" u="none" cap="none" strike="noStrike">
              <a:solidFill>
                <a:srgbClr val="0000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94" name="Google Shape;194;p25"/>
          <p:cNvSpPr/>
          <p:nvPr/>
        </p:nvSpPr>
        <p:spPr>
          <a:xfrm>
            <a:off x="476208" y="3664650"/>
            <a:ext cx="38670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ru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Слайды теряют устный канал: примеры, оговорки, интуицию и «это будет на экзамене»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25"/>
          <p:cNvSpPr/>
          <p:nvPr/>
        </p:nvSpPr>
        <p:spPr>
          <a:xfrm>
            <a:off x="476208" y="3452046"/>
            <a:ext cx="38670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i="0" lang="ru" sz="1200" u="none" cap="none" strike="noStrike">
                <a:solidFill>
                  <a:srgbClr val="0000FF"/>
                </a:solidFill>
                <a:latin typeface="Inter"/>
                <a:ea typeface="Inter"/>
                <a:cs typeface="Inter"/>
                <a:sym typeface="Inter"/>
              </a:rPr>
              <a:t>0</a:t>
            </a:r>
            <a:r>
              <a:rPr lang="ru" sz="1200">
                <a:solidFill>
                  <a:srgbClr val="0000FF"/>
                </a:solidFill>
                <a:latin typeface="Inter"/>
                <a:ea typeface="Inter"/>
                <a:cs typeface="Inter"/>
                <a:sym typeface="Inter"/>
              </a:rPr>
              <a:t>2</a:t>
            </a:r>
            <a:endParaRPr i="0" sz="1200" u="none" cap="none" strike="noStrike">
              <a:solidFill>
                <a:srgbClr val="0000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96" name="Google Shape;196;p25"/>
          <p:cNvSpPr/>
          <p:nvPr/>
        </p:nvSpPr>
        <p:spPr>
          <a:xfrm>
            <a:off x="4793081" y="0"/>
            <a:ext cx="4350900" cy="5143500"/>
          </a:xfrm>
          <a:prstGeom prst="roundRect">
            <a:avLst>
              <a:gd fmla="val -21016" name="adj"/>
            </a:avLst>
          </a:prstGeom>
          <a:solidFill>
            <a:srgbClr val="000000">
              <a:alpha val="40000"/>
            </a:srgbClr>
          </a:solidFill>
          <a:ln>
            <a:noFill/>
          </a:ln>
        </p:spPr>
        <p:txBody>
          <a:bodyPr anchorCtr="0" anchor="ctr" bIns="607200" lIns="241700" spcFirstLastPara="1" rIns="241700" wrap="square" tIns="607200">
            <a:noAutofit/>
          </a:bodyPr>
          <a:lstStyle/>
          <a:p>
            <a:pPr indent="0" lvl="0" marL="0" marR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ru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фото​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https://pitch-assets-ccb95893-de3f-4266-973c-20049231b248.s3.eu-west-1.amazonaws.com/85120e03-38a7-4c64-89af-295109b0753f?pitch-bytes=1881652&amp;pitch-content-type=image%2Fjpeg" id="197" name="Google Shape;197;p25"/>
          <p:cNvPicPr preferRelativeResize="0"/>
          <p:nvPr/>
        </p:nvPicPr>
        <p:blipFill rotWithShape="1">
          <a:blip r:embed="rId3">
            <a:alphaModFix/>
          </a:blip>
          <a:srcRect b="10865" l="33914" r="24934" t="16163"/>
          <a:stretch/>
        </p:blipFill>
        <p:spPr>
          <a:xfrm>
            <a:off x="4793081" y="0"/>
            <a:ext cx="4350922" cy="5143499"/>
          </a:xfrm>
          <a:prstGeom prst="rect">
            <a:avLst/>
          </a:prstGeom>
          <a:noFill/>
          <a:ln>
            <a:noFill/>
          </a:ln>
        </p:spPr>
      </p:pic>
      <p:sp>
        <p:nvSpPr>
          <p:cNvPr id="198" name="Google Shape;198;p25"/>
          <p:cNvSpPr/>
          <p:nvPr/>
        </p:nvSpPr>
        <p:spPr>
          <a:xfrm>
            <a:off x="380593" y="4326797"/>
            <a:ext cx="3931920" cy="344400"/>
          </a:xfrm>
          <a:prstGeom prst="roundRect">
            <a:avLst>
              <a:gd fmla="val -265404" name="adj"/>
            </a:avLst>
          </a:prstGeom>
          <a:solidFill>
            <a:srgbClr val="0000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9" name="Google Shape;199;p25"/>
          <p:cNvSpPr/>
          <p:nvPr/>
        </p:nvSpPr>
        <p:spPr>
          <a:xfrm>
            <a:off x="476250" y="4404625"/>
            <a:ext cx="3749039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i="0" lang="ru" sz="1200" u="none" cap="none" strike="noStrik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334 факта есть только в речи, не на слайдах</a:t>
            </a:r>
            <a:endParaRPr i="0" sz="1200" u="none" cap="none" strike="noStrike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200" name="Google Shape;200;p2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76250" y="320900"/>
            <a:ext cx="1536343" cy="424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C"/>
        </a:solidFill>
      </p:bgPr>
    </p:bg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5" name="Google Shape;215;p27"/>
          <p:cNvCxnSpPr/>
          <p:nvPr/>
        </p:nvCxnSpPr>
        <p:spPr>
          <a:xfrm>
            <a:off x="2636307" y="3494757"/>
            <a:ext cx="2213400" cy="0"/>
          </a:xfrm>
          <a:prstGeom prst="straightConnector1">
            <a:avLst/>
          </a:prstGeom>
          <a:solidFill>
            <a:srgbClr val="000000"/>
          </a:solidFill>
          <a:ln cap="flat" cmpd="sng" w="21150">
            <a:solidFill>
              <a:srgbClr val="0000FF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16" name="Google Shape;216;p27"/>
          <p:cNvCxnSpPr/>
          <p:nvPr/>
        </p:nvCxnSpPr>
        <p:spPr>
          <a:xfrm>
            <a:off x="4843468" y="3491617"/>
            <a:ext cx="2213400" cy="0"/>
          </a:xfrm>
          <a:prstGeom prst="straightConnector1">
            <a:avLst/>
          </a:prstGeom>
          <a:solidFill>
            <a:srgbClr val="000000"/>
          </a:solidFill>
          <a:ln cap="flat" cmpd="sng" w="21150">
            <a:solidFill>
              <a:srgbClr val="0000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17" name="Google Shape;217;p27"/>
          <p:cNvSpPr/>
          <p:nvPr/>
        </p:nvSpPr>
        <p:spPr>
          <a:xfrm>
            <a:off x="476250" y="1673096"/>
            <a:ext cx="5566500" cy="366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107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ru" sz="2600" u="none" cap="none" strike="noStrik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Пайплайн: от записи до самопроверки</a:t>
            </a:r>
            <a:endParaRPr i="0" sz="2625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18" name="Google Shape;218;p27"/>
          <p:cNvSpPr/>
          <p:nvPr/>
        </p:nvSpPr>
        <p:spPr>
          <a:xfrm>
            <a:off x="8173388" y="416837"/>
            <a:ext cx="494100" cy="26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40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ru" sz="17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  <a:r>
              <a:rPr lang="ru" sz="1700"/>
              <a:t/>
            </a:r>
            <a:endParaRPr b="0" i="0" sz="1688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19" name="Google Shape;219;p27"/>
          <p:cNvCxnSpPr/>
          <p:nvPr/>
        </p:nvCxnSpPr>
        <p:spPr>
          <a:xfrm>
            <a:off x="475843" y="3497897"/>
            <a:ext cx="2213400" cy="0"/>
          </a:xfrm>
          <a:prstGeom prst="straightConnector1">
            <a:avLst/>
          </a:prstGeom>
          <a:solidFill>
            <a:srgbClr val="000000"/>
          </a:solidFill>
          <a:ln cap="flat" cmpd="sng" w="21150">
            <a:solidFill>
              <a:srgbClr val="0000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20" name="Google Shape;220;p27"/>
          <p:cNvSpPr/>
          <p:nvPr/>
        </p:nvSpPr>
        <p:spPr>
          <a:xfrm>
            <a:off x="476250" y="3717492"/>
            <a:ext cx="1714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ru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ffmpeg → 16 кГц WAV; whisper.cpp локально или Google STT; 46 тыс. слов сырой расшифровки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27"/>
          <p:cNvSpPr/>
          <p:nvPr/>
        </p:nvSpPr>
        <p:spPr>
          <a:xfrm>
            <a:off x="2634524" y="3717492"/>
            <a:ext cx="17154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ru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LLM восстанавливает текст: 8,6 тыс. слов и больше извлекаемых фактов; слайды — через pypdf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27"/>
          <p:cNvSpPr/>
          <p:nvPr/>
        </p:nvSpPr>
        <p:spPr>
          <a:xfrm>
            <a:off x="4793914" y="3717492"/>
            <a:ext cx="17166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ru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LLM собирает конспект с тегами источников; structured output, Markdown + LaTeX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" name="Google Shape;223;p27"/>
          <p:cNvSpPr/>
          <p:nvPr/>
        </p:nvSpPr>
        <p:spPr>
          <a:xfrm>
            <a:off x="6954421" y="3717697"/>
            <a:ext cx="17142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ru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5 вопросов на лекцию; ответы студентов → item-анализ → замена слабых вопросов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7"/>
          <p:cNvSpPr/>
          <p:nvPr/>
        </p:nvSpPr>
        <p:spPr>
          <a:xfrm>
            <a:off x="476250" y="2967000"/>
            <a:ext cx="2103120" cy="366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107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ru" sz="2600" u="none" cap="none" strike="noStrike">
                <a:solidFill>
                  <a:srgbClr val="0000FF"/>
                </a:solidFill>
                <a:latin typeface="Inter"/>
                <a:ea typeface="Inter"/>
                <a:cs typeface="Inter"/>
                <a:sym typeface="Inter"/>
              </a:rPr>
              <a:t>STT</a:t>
            </a:r>
            <a:endParaRPr i="0" sz="2625" u="none" cap="none" strike="noStrike">
              <a:solidFill>
                <a:srgbClr val="0000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25" name="Google Shape;225;p27"/>
          <p:cNvSpPr/>
          <p:nvPr/>
        </p:nvSpPr>
        <p:spPr>
          <a:xfrm>
            <a:off x="2634666" y="2967175"/>
            <a:ext cx="2103120" cy="366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107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ru" sz="2600" u="none" cap="none" strike="noStrike">
                <a:solidFill>
                  <a:srgbClr val="0000FF"/>
                </a:solidFill>
                <a:latin typeface="Inter"/>
                <a:ea typeface="Inter"/>
                <a:cs typeface="Inter"/>
                <a:sym typeface="Inter"/>
              </a:rPr>
              <a:t>Чистка</a:t>
            </a:r>
            <a:endParaRPr i="0" sz="2625" u="none" cap="none" strike="noStrike">
              <a:solidFill>
                <a:srgbClr val="0000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26" name="Google Shape;226;p27"/>
          <p:cNvSpPr/>
          <p:nvPr/>
        </p:nvSpPr>
        <p:spPr>
          <a:xfrm>
            <a:off x="4793081" y="2967283"/>
            <a:ext cx="2103120" cy="366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107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ru" sz="2600" u="none" cap="none" strike="noStrike">
                <a:solidFill>
                  <a:srgbClr val="0000FF"/>
                </a:solidFill>
                <a:latin typeface="Inter"/>
                <a:ea typeface="Inter"/>
                <a:cs typeface="Inter"/>
                <a:sym typeface="Inter"/>
              </a:rPr>
              <a:t>Конспект</a:t>
            </a:r>
            <a:endParaRPr i="0" sz="2625" u="none" cap="none" strike="noStrike">
              <a:solidFill>
                <a:srgbClr val="0000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27" name="Google Shape;227;p27"/>
          <p:cNvSpPr/>
          <p:nvPr/>
        </p:nvSpPr>
        <p:spPr>
          <a:xfrm>
            <a:off x="6951497" y="2967391"/>
            <a:ext cx="2103120" cy="366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107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ru" sz="2600" u="none" cap="none" strike="noStrike">
                <a:solidFill>
                  <a:srgbClr val="0000FF"/>
                </a:solidFill>
                <a:latin typeface="Inter"/>
                <a:ea typeface="Inter"/>
                <a:cs typeface="Inter"/>
                <a:sym typeface="Inter"/>
              </a:rPr>
              <a:t>Квиз + E3</a:t>
            </a:r>
            <a:endParaRPr i="0" sz="2625" u="none" cap="none" strike="noStrike">
              <a:solidFill>
                <a:srgbClr val="0000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28" name="Google Shape;228;p27"/>
          <p:cNvSpPr/>
          <p:nvPr/>
        </p:nvSpPr>
        <p:spPr>
          <a:xfrm>
            <a:off x="475843" y="3444878"/>
            <a:ext cx="105900" cy="1059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9" name="Google Shape;229;p27"/>
          <p:cNvSpPr/>
          <p:nvPr/>
        </p:nvSpPr>
        <p:spPr>
          <a:xfrm>
            <a:off x="2636307" y="3441738"/>
            <a:ext cx="105900" cy="1059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7"/>
          <p:cNvSpPr/>
          <p:nvPr/>
        </p:nvSpPr>
        <p:spPr>
          <a:xfrm>
            <a:off x="6952593" y="3438598"/>
            <a:ext cx="105900" cy="105900"/>
          </a:xfrm>
          <a:prstGeom prst="ellipse">
            <a:avLst/>
          </a:prstGeom>
          <a:solidFill>
            <a:srgbClr val="8843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1" name="Google Shape;231;p27"/>
          <p:cNvSpPr/>
          <p:nvPr/>
        </p:nvSpPr>
        <p:spPr>
          <a:xfrm>
            <a:off x="4792129" y="3441738"/>
            <a:ext cx="105900" cy="1059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232" name="Google Shape;232;p27"/>
          <p:cNvCxnSpPr/>
          <p:nvPr/>
        </p:nvCxnSpPr>
        <p:spPr>
          <a:xfrm>
            <a:off x="7005223" y="3496259"/>
            <a:ext cx="1667100" cy="0"/>
          </a:xfrm>
          <a:prstGeom prst="straightConnector1">
            <a:avLst/>
          </a:prstGeom>
          <a:solidFill>
            <a:srgbClr val="000000"/>
          </a:solidFill>
          <a:ln cap="flat" cmpd="sng" w="21150">
            <a:solidFill>
              <a:srgbClr val="0000FF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233" name="Google Shape;233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6250" y="320900"/>
            <a:ext cx="1536343" cy="424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0FF"/>
        </a:solidFill>
      </p:bgPr>
    </p:bg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28"/>
          <p:cNvSpPr/>
          <p:nvPr/>
        </p:nvSpPr>
        <p:spPr>
          <a:xfrm>
            <a:off x="476250" y="476250"/>
            <a:ext cx="6510000" cy="62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ru" sz="45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Спасибо!</a:t>
            </a:r>
            <a:endParaRPr i="0" sz="45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40" name="Google Shape;240;p28"/>
          <p:cNvSpPr/>
          <p:nvPr/>
        </p:nvSpPr>
        <p:spPr>
          <a:xfrm>
            <a:off x="2277553" y="1828350"/>
            <a:ext cx="4389120" cy="366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107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ru" sz="26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Шамиль Арсланов</a:t>
            </a:r>
            <a:endParaRPr i="0" sz="2625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41" name="Google Shape;241;p28"/>
          <p:cNvSpPr/>
          <p:nvPr/>
        </p:nvSpPr>
        <p:spPr>
          <a:xfrm>
            <a:off x="2324903" y="2304943"/>
            <a:ext cx="4389120" cy="183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107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ru" sz="13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Data Science · Harbour Space</a:t>
            </a:r>
            <a:endParaRPr b="0" i="0" sz="1313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28"/>
          <p:cNvSpPr/>
          <p:nvPr/>
        </p:nvSpPr>
        <p:spPr>
          <a:xfrm>
            <a:off x="2324903" y="2598230"/>
            <a:ext cx="438912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i="0" lang="ru" sz="12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github.com/homomorfism/autosummary</a:t>
            </a:r>
            <a:endParaRPr i="0" sz="12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43" name="Google Shape;243;p28"/>
          <p:cNvSpPr/>
          <p:nvPr/>
        </p:nvSpPr>
        <p:spPr>
          <a:xfrm>
            <a:off x="2324903" y="2793161"/>
            <a:ext cx="438912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i="0" lang="ru" sz="12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shamil.arslanov@axialent.com</a:t>
            </a:r>
            <a:endParaRPr i="0" sz="12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descr="https://pitch-assets-ccb95893-de3f-4266-973c-20049231b248.s3.eu-west-1.amazonaws.com/0e85026a-008d-4f73-b555-d556e9b7acd4?pitch-bytes=4898&amp;pitch-content-type=image%2Fsvg%2Bxml" id="244" name="Google Shape;244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80574" y="4476231"/>
            <a:ext cx="707491" cy="19137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s://pitch-assets-ccb95893-de3f-4266-973c-20049231b248.s3.eu-west-1.amazonaws.com/efa381c9-5c10-4380-abee-d4f3f03ddc9d?pitch-bytes=3032&amp;pitch-content-type=image%2Fsvg%2Bxml" id="245" name="Google Shape;245;p2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992007" y="4534270"/>
            <a:ext cx="1673573" cy="137554"/>
          </a:xfrm>
          <a:prstGeom prst="rect">
            <a:avLst/>
          </a:prstGeom>
          <a:noFill/>
          <a:ln>
            <a:noFill/>
          </a:ln>
        </p:spPr>
      </p:pic>
      <p:pic>
        <p:nvPicPr>
          <p:cNvPr id="246" name="Google Shape;246;p2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76250" y="4419750"/>
            <a:ext cx="1326484" cy="366600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28"/>
          <p:cNvSpPr/>
          <p:nvPr/>
        </p:nvSpPr>
        <p:spPr>
          <a:xfrm>
            <a:off x="512750" y="1705050"/>
            <a:ext cx="1556400" cy="1401900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Фото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</p:bgPr>
    </p:bg>
    <p:spTree>
      <p:nvGrpSpPr>
        <p:cNvPr id="1" name=""/>
        <p:cNvGrpSpPr/>
        <p:nvPr/>
      </p:nvGrpSpPr>
      <p:grpSpPr/>
      <p:sp>
        <p:nvSpPr>
          <p:cNvPr id="165" name="Google Shape;165;p23"/>
          <p:cNvSpPr/>
          <p:nvPr/>
        </p:nvSpPr>
        <p:spPr>
          <a:xfrm>
            <a:off x="476250" y="906158"/>
            <a:ext cx="5566500" cy="366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107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ru" sz="2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E3: квиз улучшает сам себя</a:t>
            </a:r>
            <a:endParaRPr b="0" i="0" sz="26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23"/>
          <p:cNvSpPr/>
          <p:nvPr/>
        </p:nvSpPr>
        <p:spPr>
          <a:xfrm>
            <a:off x="476208" y="2509129"/>
            <a:ext cx="24987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ru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quiz.json — 5 живых вопросов на каждую лекцию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23"/>
          <p:cNvSpPr/>
          <p:nvPr/>
        </p:nvSpPr>
        <p:spPr>
          <a:xfrm>
            <a:off x="3322142" y="2508936"/>
            <a:ext cx="24924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ru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Студенты отвечают в веб-приложении; попытки пишутся в SQLite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3"/>
          <p:cNvSpPr/>
          <p:nvPr/>
        </p:nvSpPr>
        <p:spPr>
          <a:xfrm>
            <a:off x="476193" y="1662400"/>
            <a:ext cx="6912300" cy="366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107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ru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Классическая теория тестов поверх реальных попыток студентов — цикл замкнут:</a:t>
            </a:r>
            <a:endParaRPr b="0" i="0" sz="1313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476208" y="2296524"/>
            <a:ext cx="24987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ru" sz="1200" u="none" cap="none" strike="noStrike">
                <a:solidFill>
                  <a:srgbClr val="8843FF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3323786" y="2297045"/>
            <a:ext cx="24948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ru" sz="1200" u="none" cap="none" strike="noStrike">
                <a:solidFill>
                  <a:srgbClr val="8843FF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23"/>
          <p:cNvSpPr/>
          <p:nvPr/>
        </p:nvSpPr>
        <p:spPr>
          <a:xfrm>
            <a:off x="476208" y="4092701"/>
            <a:ext cx="24987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ru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Отбраковка: p ∉ [0,30; 0,85] или r_pb &lt; 0,15 → вопрос уходит в архив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23"/>
          <p:cNvSpPr/>
          <p:nvPr/>
        </p:nvSpPr>
        <p:spPr>
          <a:xfrm>
            <a:off x="3322142" y="4092508"/>
            <a:ext cx="24924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ru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LLM пишет замену, зная измеренные статистики и типичные ошибки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23"/>
          <p:cNvSpPr/>
          <p:nvPr/>
        </p:nvSpPr>
        <p:spPr>
          <a:xfrm>
            <a:off x="476208" y="3880097"/>
            <a:ext cx="24987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ru" sz="1200" u="none" cap="none" strike="noStrike">
                <a:solidFill>
                  <a:srgbClr val="8843FF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23"/>
          <p:cNvSpPr/>
          <p:nvPr/>
        </p:nvSpPr>
        <p:spPr>
          <a:xfrm>
            <a:off x="3323786" y="3880617"/>
            <a:ext cx="24948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ru" sz="1200" u="none" cap="none" strike="noStrike">
                <a:solidFill>
                  <a:srgbClr val="8843FF"/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23"/>
          <p:cNvSpPr/>
          <p:nvPr/>
        </p:nvSpPr>
        <p:spPr>
          <a:xfrm>
            <a:off x="6170628" y="2508896"/>
            <a:ext cx="24924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ru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Item-анализ: сложность p и дискриминативность r_pb по каждому вопросу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23"/>
          <p:cNvSpPr/>
          <p:nvPr/>
        </p:nvSpPr>
        <p:spPr>
          <a:xfrm>
            <a:off x="6172272" y="2297005"/>
            <a:ext cx="24948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ru" sz="1200" u="none" cap="none" strike="noStrike">
                <a:solidFill>
                  <a:srgbClr val="8843FF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77" name="Google Shape;177;p2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76250" y="320900"/>
            <a:ext cx="1536343" cy="424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</p:bgPr>
    </p:bg>
    <p:spTree>
      <p:nvGrpSpPr>
        <p:cNvPr id="1" name=""/>
        <p:cNvGrpSpPr/>
        <p:nvPr/>
      </p:nvGrpSpPr>
      <p:grpSpPr/>
      <p:sp>
        <p:nvSpPr>
          <p:cNvPr id="148" name="Google Shape;148;p22"/>
          <p:cNvSpPr/>
          <p:nvPr/>
        </p:nvSpPr>
        <p:spPr>
          <a:xfrm>
            <a:off x="476250" y="906158"/>
            <a:ext cx="5566500" cy="366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107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ru" sz="2600" u="none" cap="none" strike="noStrik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Статус и планы</a:t>
            </a:r>
            <a:endParaRPr i="0" sz="2625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49" name="Google Shape;149;p22"/>
          <p:cNvSpPr/>
          <p:nvPr/>
        </p:nvSpPr>
        <p:spPr>
          <a:xfrm>
            <a:off x="476208" y="2509129"/>
            <a:ext cx="384048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ru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Пайплайн end-to-end: STT → реконструкция → конспект → квиз → веб; E1-движок и судья (κ = 0,95)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22"/>
          <p:cNvSpPr/>
          <p:nvPr/>
        </p:nvSpPr>
        <p:spPr>
          <a:xfrm>
            <a:off x="4754880" y="2508936"/>
            <a:ext cx="384048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ru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Числа на dev-лекции: F1 72,6 %; WER 2,3 % против 16,3 %; цикл отбраковки вопросов E3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22"/>
          <p:cNvSpPr/>
          <p:nvPr/>
        </p:nvSpPr>
        <p:spPr>
          <a:xfrm>
            <a:off x="476198" y="1662400"/>
            <a:ext cx="7772400" cy="366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107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ru" sz="1300" u="none" cap="none" strike="noStrik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Пайплайн работает целиком; эксперименты E1–E3 поставлены и дали числа:</a:t>
            </a:r>
            <a:endParaRPr i="0" sz="1313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52" name="Google Shape;152;p22"/>
          <p:cNvSpPr/>
          <p:nvPr/>
        </p:nvSpPr>
        <p:spPr>
          <a:xfrm>
            <a:off x="476208" y="2296524"/>
            <a:ext cx="384048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i="0" lang="ru" sz="1200" u="none" cap="none" strike="noStrike">
                <a:solidFill>
                  <a:srgbClr val="0000FF"/>
                </a:solidFill>
                <a:latin typeface="Inter"/>
                <a:ea typeface="Inter"/>
                <a:cs typeface="Inter"/>
                <a:sym typeface="Inter"/>
              </a:rPr>
              <a:t>Сделано</a:t>
            </a:r>
            <a:endParaRPr i="0" sz="1200" u="none" cap="none" strike="noStrike">
              <a:solidFill>
                <a:srgbClr val="0000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53" name="Google Shape;153;p22"/>
          <p:cNvSpPr/>
          <p:nvPr/>
        </p:nvSpPr>
        <p:spPr>
          <a:xfrm>
            <a:off x="4754880" y="2297045"/>
            <a:ext cx="384048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i="0" lang="ru" sz="1200" u="none" cap="none" strike="noStrike">
                <a:solidFill>
                  <a:srgbClr val="0000FF"/>
                </a:solidFill>
                <a:latin typeface="Inter"/>
                <a:ea typeface="Inter"/>
                <a:cs typeface="Inter"/>
                <a:sym typeface="Inter"/>
              </a:rPr>
              <a:t>Сделано</a:t>
            </a:r>
            <a:endParaRPr i="0" sz="1200" u="none" cap="none" strike="noStrike">
              <a:solidFill>
                <a:srgbClr val="0000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54" name="Google Shape;154;p22"/>
          <p:cNvSpPr/>
          <p:nvPr/>
        </p:nvSpPr>
        <p:spPr>
          <a:xfrm>
            <a:off x="476208" y="4092701"/>
            <a:ext cx="384048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ru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Замороженный пайплайн на 8 отложенных лекциях; таблица латентности и стоимости E2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22"/>
          <p:cNvSpPr/>
          <p:nvPr/>
        </p:nvSpPr>
        <p:spPr>
          <a:xfrm>
            <a:off x="4754880" y="4092508"/>
            <a:ext cx="384048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ru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Живой сбор ответов студентов и запуск цикла E3; абляции: качество конспекта и top-k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22"/>
          <p:cNvSpPr/>
          <p:nvPr/>
        </p:nvSpPr>
        <p:spPr>
          <a:xfrm>
            <a:off x="476208" y="3880097"/>
            <a:ext cx="384048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i="0" lang="ru" sz="1200" u="none" cap="none" strike="noStrike">
                <a:solidFill>
                  <a:srgbClr val="0000FF"/>
                </a:solidFill>
                <a:latin typeface="Inter"/>
                <a:ea typeface="Inter"/>
                <a:cs typeface="Inter"/>
                <a:sym typeface="Inter"/>
              </a:rPr>
              <a:t>Дальше</a:t>
            </a:r>
            <a:endParaRPr i="0" sz="1200" u="none" cap="none" strike="noStrike">
              <a:solidFill>
                <a:srgbClr val="0000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57" name="Google Shape;157;p22"/>
          <p:cNvSpPr/>
          <p:nvPr/>
        </p:nvSpPr>
        <p:spPr>
          <a:xfrm>
            <a:off x="4754880" y="3880617"/>
            <a:ext cx="384048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i="0" lang="ru" sz="1200" u="none" cap="none" strike="noStrike">
                <a:solidFill>
                  <a:srgbClr val="0000FF"/>
                </a:solidFill>
                <a:latin typeface="Inter"/>
                <a:ea typeface="Inter"/>
                <a:cs typeface="Inter"/>
                <a:sym typeface="Inter"/>
              </a:rPr>
              <a:t>Дальше</a:t>
            </a:r>
            <a:endParaRPr i="0" sz="1200" u="none" cap="none" strike="noStrike">
              <a:solidFill>
                <a:srgbClr val="0000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159" name="Google Shape;159;p2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76250" y="320900"/>
            <a:ext cx="1536343" cy="424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000000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