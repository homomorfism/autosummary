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476250" y="2258372"/>
            <a:ext cx="673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Lecture Autosummary —</a:t>
            </a:r>
            <a:endParaRPr b="0"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конспект и квиз</a:t>
            </a:r>
            <a:endParaRPr b="0"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76250" y="3569481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Обоснованный конспект и адаптивный квиз из видео и слайдов  ·  Шамиль Арсланов  ·  Harbour Space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64" name="Google Shape;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76250" y="906158"/>
            <a:ext cx="4114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Проблема: оба артефакта подводят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76208" y="2644576"/>
            <a:ext cx="38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Запись лекции идёт 2–3,5 часа — слишком долго, чтобы пересматривать её перед экзаменом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76208" y="2431971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6208" y="3664650"/>
            <a:ext cx="38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Слайды теряют устный канал: примеры, оговорки, интуицию и «это будет на экзамене»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76208" y="3452046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793081" y="0"/>
            <a:ext cx="4350900" cy="5143500"/>
          </a:xfrm>
          <a:prstGeom prst="roundRect">
            <a:avLst>
              <a:gd fmla="val -21016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607200" lIns="241700" spcFirstLastPara="1" rIns="24170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фото​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80593" y="4326797"/>
            <a:ext cx="393192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76250" y="4404625"/>
            <a:ext cx="37490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334 факта есть только в речи, не на слайдах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0" l="36560" r="0" t="0"/>
          <a:stretch/>
        </p:blipFill>
        <p:spPr>
          <a:xfrm>
            <a:off x="4793100" y="0"/>
            <a:ext cx="4350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Решение: конспект + квиз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76208" y="2509129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Конспект, где каждое утверждение помечено источником: слайд / речь / оба — сказанное не теряется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754880" y="2508936"/>
            <a:ext cx="384048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Квиз из 5 вопросов на лекцию, который сам улучшается по психометрике реальных попыток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76198" y="1662400"/>
            <a:ext cx="7772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Видео и PDF-слайды проходят через пайплайн STT → LLM → оценка:</a:t>
            </a:r>
            <a:endParaRPr b="0"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76208" y="2296524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754880" y="229704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76208" y="4092701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Веб-приложение курса: конспект → квиз → результаты; попытки сохраняются в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754880" y="4092508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Метрика тезиса — доля устных фактов, доживших до конспекта; слайды сами по себе дают 0 %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76208" y="388009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754880" y="388061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76250" y="914400"/>
            <a:ext cx="822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Пайплайн: от записи до самопроверки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457200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Видео MP4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9 лекций · 21,3 ч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2157984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Аудио WAV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ffmpeg · 16 кГц моно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3858768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whisper.cpp / Google STT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E2: WER, латентность, цена</a:t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5559552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Сырой транскрипт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46 тыс. слов, филлеры, оффтоп</a:t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7260336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Реконструкция (LLM)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8,6 тыс. слов, LaTeX-математика</a:t>
            </a:r>
            <a:endParaRPr/>
          </a:p>
        </p:txBody>
      </p:sp>
      <p:cxnSp>
        <p:nvCxnSpPr>
          <p:cNvPr id="110" name="Google Shape;110;p18"/>
          <p:cNvCxnSpPr/>
          <p:nvPr/>
        </p:nvCxnSpPr>
        <p:spPr>
          <a:xfrm>
            <a:off x="1883664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18"/>
          <p:cNvCxnSpPr/>
          <p:nvPr/>
        </p:nvCxnSpPr>
        <p:spPr>
          <a:xfrm>
            <a:off x="3584448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18"/>
          <p:cNvCxnSpPr/>
          <p:nvPr/>
        </p:nvCxnSpPr>
        <p:spPr>
          <a:xfrm>
            <a:off x="5285232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18"/>
          <p:cNvCxnSpPr/>
          <p:nvPr/>
        </p:nvCxnSpPr>
        <p:spPr>
          <a:xfrm>
            <a:off x="6986016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18"/>
          <p:cNvSpPr/>
          <p:nvPr/>
        </p:nvSpPr>
        <p:spPr>
          <a:xfrm>
            <a:off x="457200" y="2560320"/>
            <a:ext cx="1426464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Слайды PDF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beamer · 619 стр.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2157984" y="2560320"/>
            <a:ext cx="1426464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Извлечение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pypdf текст + PNG-рендеры</a:t>
            </a:r>
            <a:endParaRPr/>
          </a:p>
        </p:txBody>
      </p:sp>
      <p:cxnSp>
        <p:nvCxnSpPr>
          <p:cNvPr id="116" name="Google Shape;116;p18"/>
          <p:cNvCxnSpPr/>
          <p:nvPr/>
        </p:nvCxnSpPr>
        <p:spPr>
          <a:xfrm>
            <a:off x="1883664" y="2948939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18"/>
          <p:cNvSpPr/>
          <p:nvPr/>
        </p:nvSpPr>
        <p:spPr>
          <a:xfrm>
            <a:off x="45720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Конспект (LLM)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каждый факт: slide / transcript / both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E1: coverage · faithfulness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260604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Квиз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5 вопросов, pydantic-схема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75488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Веб-приложение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Next.js · попытки в SQLite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690372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884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E3: item-анализ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сложность p, дискриминативность r_pb</a:t>
            </a:r>
            <a:endParaRPr/>
          </a:p>
        </p:txBody>
      </p:sp>
      <p:cxnSp>
        <p:nvCxnSpPr>
          <p:cNvPr id="121" name="Google Shape;121;p18"/>
          <p:cNvCxnSpPr/>
          <p:nvPr/>
        </p:nvCxnSpPr>
        <p:spPr>
          <a:xfrm>
            <a:off x="224028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438912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18"/>
          <p:cNvCxnSpPr/>
          <p:nvPr/>
        </p:nvCxnSpPr>
        <p:spPr>
          <a:xfrm>
            <a:off x="653796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18"/>
          <p:cNvCxnSpPr/>
          <p:nvPr/>
        </p:nvCxnSpPr>
        <p:spPr>
          <a:xfrm>
            <a:off x="7973568" y="2240280"/>
            <a:ext cx="0" cy="128016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2871216" y="333756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8"/>
          <p:cNvCxnSpPr/>
          <p:nvPr/>
        </p:nvCxnSpPr>
        <p:spPr>
          <a:xfrm rot="10800000">
            <a:off x="1348740" y="3520440"/>
            <a:ext cx="6624828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1348740" y="352044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18"/>
          <p:cNvCxnSpPr/>
          <p:nvPr/>
        </p:nvCxnSpPr>
        <p:spPr>
          <a:xfrm>
            <a:off x="7795260" y="4526280"/>
            <a:ext cx="0" cy="36576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9" name="Google Shape;129;p18"/>
          <p:cNvCxnSpPr/>
          <p:nvPr/>
        </p:nvCxnSpPr>
        <p:spPr>
          <a:xfrm rot="10800000">
            <a:off x="3497580" y="4892040"/>
            <a:ext cx="4297680" cy="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 rot="10800000">
            <a:off x="3497580" y="4526280"/>
            <a:ext cx="0" cy="36576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1" name="Google Shape;131;p18"/>
          <p:cNvSpPr txBox="1"/>
          <p:nvPr/>
        </p:nvSpPr>
        <p:spPr>
          <a:xfrm>
            <a:off x="4297680" y="459028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отбраковка и LLM-регенерация вопросов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476208" y="1581699"/>
            <a:ext cx="387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«Deep Learning and Computer Vision» — Harbour Space 2026, С. Николенко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793081" y="1581506"/>
            <a:ext cx="38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Плотная математика: формулы и терминология нагружают и STT, и суммаризацию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3656" y="2387964"/>
            <a:ext cx="387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Ручная разметка: золотой транскрипт 19,5 мин для WER и 40 пар для калибровки судьи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76250" y="4475558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лекций: видео + слайды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634524" y="4475558"/>
            <a:ext cx="1715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видео лекций в 1080p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793914" y="4475558"/>
            <a:ext cx="171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страниц слайдов (PDF)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954421" y="4475764"/>
            <a:ext cx="17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попыток квиза от 8 студентов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76250" y="3963192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2634666" y="3963367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21,3 ч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793081" y="3963475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619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951497" y="3963583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49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Данные: настоящий курс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33375" y="1579487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33375" y="2388285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650015" y="1578879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E1: оцениваем факты, а не слова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/>
          <p:nvPr/>
        </p:nvSpPr>
        <p:spPr>
          <a:xfrm>
            <a:off x="457200" y="155448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Слайды (реконстр.)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157 утверждений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57200" y="242316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Расшифровка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526 утверждений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57200" y="329184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Конспект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208 утверждений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2651760" y="2286000"/>
            <a:ext cx="17373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LLM-декомпозиция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атомарные утверждения + значимость core / supporting / aside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4754880" y="2286000"/>
            <a:ext cx="17373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entails(факт, текст)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top-16 поиск по эмбеддингам + строгий LLM-судья</a:t>
            </a:r>
            <a:endParaRPr/>
          </a:p>
        </p:txBody>
      </p:sp>
      <p:cxnSp>
        <p:nvCxnSpPr>
          <p:cNvPr id="166" name="Google Shape;166;p20"/>
          <p:cNvCxnSpPr/>
          <p:nvPr/>
        </p:nvCxnSpPr>
        <p:spPr>
          <a:xfrm>
            <a:off x="2057400" y="1897380"/>
            <a:ext cx="594360" cy="84582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20"/>
          <p:cNvCxnSpPr/>
          <p:nvPr/>
        </p:nvCxnSpPr>
        <p:spPr>
          <a:xfrm flipH="1" rot="10800000">
            <a:off x="2057400" y="2743200"/>
            <a:ext cx="594360" cy="2286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20"/>
          <p:cNvCxnSpPr/>
          <p:nvPr/>
        </p:nvCxnSpPr>
        <p:spPr>
          <a:xfrm flipH="1" rot="10800000">
            <a:off x="2057400" y="2743200"/>
            <a:ext cx="594360" cy="89154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4389120" y="27432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20"/>
          <p:cNvSpPr/>
          <p:nvPr/>
        </p:nvSpPr>
        <p:spPr>
          <a:xfrm>
            <a:off x="6949440" y="1554480"/>
            <a:ext cx="1737360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(recall)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источники ⊑ конспект</a:t>
            </a:r>
            <a:endParaRPr/>
          </a:p>
        </p:txBody>
      </p:sp>
      <p:cxnSp>
        <p:nvCxnSpPr>
          <p:cNvPr id="171" name="Google Shape;171;p20"/>
          <p:cNvCxnSpPr/>
          <p:nvPr/>
        </p:nvCxnSpPr>
        <p:spPr>
          <a:xfrm flipH="1" rot="10800000">
            <a:off x="6492240" y="1943100"/>
            <a:ext cx="457200" cy="80010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20"/>
          <p:cNvSpPr/>
          <p:nvPr/>
        </p:nvSpPr>
        <p:spPr>
          <a:xfrm>
            <a:off x="6949440" y="2468880"/>
            <a:ext cx="1737360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 (precision)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конспект ⊑ источники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6492240" y="2743200"/>
            <a:ext cx="457200" cy="11430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20"/>
          <p:cNvSpPr/>
          <p:nvPr/>
        </p:nvSpPr>
        <p:spPr>
          <a:xfrm>
            <a:off x="6949440" y="3383280"/>
            <a:ext cx="1737360" cy="8686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884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Transcript-only coverage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устное без слайдов: доля, дожившая до конспекта</a:t>
            </a:r>
            <a:endParaRPr/>
          </a:p>
        </p:txBody>
      </p:sp>
      <p:cxnSp>
        <p:nvCxnSpPr>
          <p:cNvPr id="175" name="Google Shape;175;p20"/>
          <p:cNvCxnSpPr/>
          <p:nvPr/>
        </p:nvCxnSpPr>
        <p:spPr>
          <a:xfrm>
            <a:off x="6492240" y="2743200"/>
            <a:ext cx="457200" cy="107442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2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Один механизм entailment — три направления проверки; судья валидирован вручную: κ = 0,95 на 40 парах, ноль ложноположительных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380593" y="4326797"/>
            <a:ext cx="210312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E1: рост всех метрик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76208" y="1581699"/>
            <a:ext cx="387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Лекция 6: конспект из сырого ASR (серый) против конспекта из восстановленной расшифровки (синий). После очистки текст короче в 5 раз, но извлекаемых фактов больше: 526 против 449.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8089402" y="416825"/>
            <a:ext cx="578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76250" y="4404625"/>
            <a:ext cx="1920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F1: 60,7 → 72,6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57200" y="2532888"/>
            <a:ext cx="128016" cy="128016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58368" y="25054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сырой ASR (46 тыс. слов)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457200" y="2788920"/>
            <a:ext cx="128016" cy="1280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658368" y="276148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восстановленная расшифровка (8,6 тыс. слов)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389120" y="1371600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Покрытие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389120" y="1591056"/>
            <a:ext cx="1675729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138001" y="157734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53,9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4389120" y="1764792"/>
            <a:ext cx="1943100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405372" y="176022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62,5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389120" y="2103120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Фактическая точность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4389120" y="2322576"/>
            <a:ext cx="2157618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619890" y="230886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69,4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4389120" y="2496312"/>
            <a:ext cx="2689250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7151522" y="249173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86,5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389120" y="2834639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F1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4389120" y="3054096"/>
            <a:ext cx="1887138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349410" y="304037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60,7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4389120" y="3227832"/>
            <a:ext cx="2257104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719376" y="322325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72,6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389120" y="3566159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Сохранение устных фактов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389120" y="3785615"/>
            <a:ext cx="1156533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618805" y="377189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37,2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4389120" y="3959351"/>
            <a:ext cx="1507845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970117" y="395477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48,5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476208" y="2651760"/>
            <a:ext cx="6654000" cy="16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LLM-судья калиброван: κ = 0,95 на 40 ручных парах.</a:t>
            </a: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Ноль ложных срабатываний, один пропуск.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004154" y="416825"/>
            <a:ext cx="6633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E2: WER в 7 раз ниже облака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76208" y="1581699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Доля ошибок распознавания слов (WER) на золотом фрагменте 19,5 мин — меньше лучше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76208" y="257263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whisper.cpp — локально, бесплатно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982419" y="257330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STT — облако, платно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8032578" y="416825"/>
            <a:ext cx="634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57200" y="3246120"/>
            <a:ext cx="420623" cy="32004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57200" y="3703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2,3 %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3200400" y="37673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шкала 0–20 %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937760" y="3246120"/>
            <a:ext cx="2980944" cy="32004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4937760" y="3703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16,3 %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7680960" y="37673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шкала 0–20 %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E3: квиз улучшает сам себя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76208" y="2509129"/>
            <a:ext cx="24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quiz.json — 5 живых вопросов на каждую лекцию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3322142" y="250893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Студенты отвечают в веб-приложении; попытки пишутся в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76193" y="1662400"/>
            <a:ext cx="6912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Классическая теория тестов поверх реальных попыток студентов — цикл замкнут: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76208" y="2296524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3323786" y="229704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76208" y="4092701"/>
            <a:ext cx="249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Отбраковка: p ∉ [0,30; 0,85] или r_pb &lt; 0,15 → вопрос уходит в архив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3322142" y="4092508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пишет замену, зная измеренные статистики и типичные ошибки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476208" y="3880097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323786" y="3880617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170628" y="250889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Item-анализ: сложность p и дискриминативность r_pb по каждому вопросу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6172272" y="229700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E3: результаты на живых данных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457200" y="14813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Веб-приложение собрало 49 попыток от 8 респондентов по всем 9 квизам (16–18 июля 2026); баллы 0–5, среднее 3,06, SD 1,54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5720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33/45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5720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вопросов проходят правило отбраковки (73 %)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265176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0,61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265176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средняя сложность p — в целевом окне [0,30; 0,85]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475488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+0,42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475488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средняя дискриминативность r_pb (у 7 вопросов &lt; 0)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94944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3/9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694944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квизов полностью чистые: лекции 04, 08, 09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45720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45720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Слишком лёгкие (2): p = 1,00, все отвечают верно, r_pb не определена — регенерация в более тонкий зонд той же темы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329184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329184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Слишком трудные (4): p = 0,20; два вопроса лекции 7 с r_pb = +0,71 и общим дистрактором — сначала ручная проверка ключа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12648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12648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различают (6): r_pb от −0,69 до −0,08 — промах у сильного респондента; худший квиз — лекция 3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8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Оговорка о выборке: 5–6 попыток на вопрос — шаг p 0,17–0,20, один респондент сдвигает r_pb на ±0,5; оценки шумные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Статус и планы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76208" y="2509129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Пайплайн end-to-end: STT → реконструкция → конспект → квиз → веб; E1-движок и судья (κ = 0,95)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754880" y="2508936"/>
            <a:ext cx="384048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Числа на dev-лекции: F1 72,6 %; WER 2,3 % против 16,3 %; E3 на проде: 49 попыток, 33/45 вопросов валидны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76198" y="1662400"/>
            <a:ext cx="7772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Пайплайн работает целиком; эксперименты E1–E3 поставлены и дали числа:</a:t>
            </a:r>
            <a:endParaRPr b="0"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476208" y="2296524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Сделано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4754880" y="229704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Сделано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476208" y="4092701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Замороженный пайплайн на 8 отложенных лекциях; таблица латентности и стоимости E2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4754880" y="4092508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Регенерация 12 отбракованных вопросов и повторный замер; абляции: качество конспекта и top-k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476208" y="388009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Дальше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4754880" y="388061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Дальше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476250" y="476250"/>
            <a:ext cx="6510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Спасибо!</a:t>
            </a:r>
            <a:endParaRPr b="0"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2277553" y="1828350"/>
            <a:ext cx="438912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Шамиль Арсланов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2324903" y="2304943"/>
            <a:ext cx="438912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Science · Harbour Space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2324903" y="2598230"/>
            <a:ext cx="43891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github.com/homomorfism/autosummary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2324903" y="2793161"/>
            <a:ext cx="43891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shamil.arslanov@axialent.com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302" name="Google Shape;3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303" name="Google Shape;3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419750"/>
            <a:ext cx="1326484" cy="36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lfie.png" id="305" name="Google Shape;30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788" y="1705050"/>
            <a:ext cx="1399032" cy="1399032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