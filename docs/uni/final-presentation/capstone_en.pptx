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font" Target="fonts/Inter-regular.fntdata"/><Relationship Id="rId20" Type="http://schemas.openxmlformats.org/officeDocument/2006/relationships/font" Target="fonts/Inter-bold.fntdata"/><Relationship Id="rId21" Type="http://schemas.openxmlformats.org/officeDocument/2006/relationships/font" Target="fonts/Inter-italic.fntdata"/><Relationship Id="rId22" Type="http://schemas.openxmlformats.org/officeDocument/2006/relationships/font" Target="fonts/Inter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1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476250" y="2258372"/>
            <a:ext cx="6739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ru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Lecture Autosummary —</a:t>
            </a:r>
            <a:endParaRPr b="0" i="0" sz="3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ru" sz="3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conspect and quiz</a:t>
            </a:r>
            <a:endParaRPr b="0" i="0" sz="3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76250" y="3569481"/>
            <a:ext cx="685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grounded conspect and an adaptive quiz from video and slides  ·  Shamil Arslanov  ·  Harbour Space  ·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pitch-assets-ccb95893-de3f-4266-973c-20049231b248.s3.eu-west-1.amazonaws.com/0e85026a-008d-4f73-b555-d556e9b7acd4?pitch-bytes=4898&amp;pitch-content-type=image%2Fsvg%2Bxml" id="63" name="Google Shape;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574" y="4476231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fa381c9-5c10-4380-abee-d4f3f03ddc9d?pitch-bytes=3032&amp;pitch-content-type=image%2Fsvg%2Bxml" id="64" name="Google Shape;6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007" y="4534270"/>
            <a:ext cx="1673573" cy="13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476250" y="906158"/>
            <a:ext cx="4114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Problem: both artifacts fall short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76208" y="2644576"/>
            <a:ext cx="3867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lecture recording runs 2–3.5 hours — too long to rewatch before an exam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476208" y="2431971"/>
            <a:ext cx="38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76208" y="3664650"/>
            <a:ext cx="38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Slides lose the spoken channel: examples, caveats, intuition, and “this will be on the exam”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76208" y="3452046"/>
            <a:ext cx="38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793081" y="0"/>
            <a:ext cx="4350900" cy="5143500"/>
          </a:xfrm>
          <a:prstGeom prst="roundRect">
            <a:avLst>
              <a:gd fmla="val -21016" name="adj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607200" lIns="241700" spcFirstLastPara="1" rIns="241700" wrap="square" tIns="6072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photo​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80593" y="4326797"/>
            <a:ext cx="3931920" cy="344400"/>
          </a:xfrm>
          <a:prstGeom prst="roundRect">
            <a:avLst>
              <a:gd fmla="val -265404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76250" y="4404625"/>
            <a:ext cx="374903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334 facts exist only in speech, not on the slides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4">
            <a:alphaModFix/>
          </a:blip>
          <a:srcRect b="0" l="36560" r="0" t="0"/>
          <a:stretch/>
        </p:blipFill>
        <p:spPr>
          <a:xfrm>
            <a:off x="4793100" y="0"/>
            <a:ext cx="43509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Solution: conspect + quiz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76208" y="2509129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conspect where every statement is tagged with its source: slide / speech / both — nothing spoken gets lost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754880" y="2508936"/>
            <a:ext cx="384048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5-question quiz per lecture that improves itself via psychometrics of real attempts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76198" y="1662400"/>
            <a:ext cx="7772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Video and PDF slides go through an STT → LLM → evaluation pipeline:</a:t>
            </a:r>
            <a:endParaRPr b="0" i="0" sz="1313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76208" y="2296524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754880" y="2297045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76208" y="4092701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 web app: conspect → quiz → results; attempts stored in 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754880" y="4092508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Thesis metric — the share of spoken facts that survive into the conspect; slides alone give 0 %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76208" y="3880097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754880" y="3880617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476250" y="914400"/>
            <a:ext cx="8229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Pipeline: from recording to self-check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457200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MP4 video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9 lectures · 21.3 h</a:t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2157984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WAV audio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ffmpeg · 16 kHz mono</a:t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3858768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whisper.cpp / Google STT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E2: WER, latency, cost</a:t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5559552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transcript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46k words, fillers, off-topic</a:t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7260336" y="1417320"/>
            <a:ext cx="1426464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Reconstruction (LLM)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8.6k words, LaTeX math</a:t>
            </a:r>
            <a:endParaRPr/>
          </a:p>
        </p:txBody>
      </p:sp>
      <p:cxnSp>
        <p:nvCxnSpPr>
          <p:cNvPr id="110" name="Google Shape;110;p18"/>
          <p:cNvCxnSpPr/>
          <p:nvPr/>
        </p:nvCxnSpPr>
        <p:spPr>
          <a:xfrm>
            <a:off x="1883664" y="182880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18"/>
          <p:cNvCxnSpPr/>
          <p:nvPr/>
        </p:nvCxnSpPr>
        <p:spPr>
          <a:xfrm>
            <a:off x="3584448" y="182880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" name="Google Shape;112;p18"/>
          <p:cNvCxnSpPr/>
          <p:nvPr/>
        </p:nvCxnSpPr>
        <p:spPr>
          <a:xfrm>
            <a:off x="5285232" y="182880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18"/>
          <p:cNvCxnSpPr/>
          <p:nvPr/>
        </p:nvCxnSpPr>
        <p:spPr>
          <a:xfrm>
            <a:off x="6986016" y="182880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18"/>
          <p:cNvSpPr/>
          <p:nvPr/>
        </p:nvSpPr>
        <p:spPr>
          <a:xfrm>
            <a:off x="457200" y="2560320"/>
            <a:ext cx="1426464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PDF slides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beamer · 619 pages</a:t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2157984" y="2560320"/>
            <a:ext cx="1426464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pypdf text + PNG renders</a:t>
            </a:r>
            <a:endParaRPr/>
          </a:p>
        </p:txBody>
      </p:sp>
      <p:cxnSp>
        <p:nvCxnSpPr>
          <p:cNvPr id="116" name="Google Shape;116;p18"/>
          <p:cNvCxnSpPr/>
          <p:nvPr/>
        </p:nvCxnSpPr>
        <p:spPr>
          <a:xfrm>
            <a:off x="1883664" y="2948939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18"/>
          <p:cNvSpPr/>
          <p:nvPr/>
        </p:nvSpPr>
        <p:spPr>
          <a:xfrm>
            <a:off x="457200" y="3703320"/>
            <a:ext cx="1783080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Conspect (LLM)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every fact: slide / transcript / both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7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E1: coverage · faithfulness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2606040" y="3703320"/>
            <a:ext cx="1783080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5 questions, pydantic schema</a:t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4754880" y="3703320"/>
            <a:ext cx="1783080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app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Next.js · attempts in SQLite</a:t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6903720" y="3703320"/>
            <a:ext cx="1783080" cy="822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884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E3: item analysis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difficulty p, discrimination r_pb</a:t>
            </a:r>
            <a:endParaRPr/>
          </a:p>
        </p:txBody>
      </p:sp>
      <p:cxnSp>
        <p:nvCxnSpPr>
          <p:cNvPr id="121" name="Google Shape;121;p18"/>
          <p:cNvCxnSpPr/>
          <p:nvPr/>
        </p:nvCxnSpPr>
        <p:spPr>
          <a:xfrm>
            <a:off x="2240280" y="411480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18"/>
          <p:cNvCxnSpPr/>
          <p:nvPr/>
        </p:nvCxnSpPr>
        <p:spPr>
          <a:xfrm>
            <a:off x="4389120" y="411480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" name="Google Shape;123;p18"/>
          <p:cNvCxnSpPr/>
          <p:nvPr/>
        </p:nvCxnSpPr>
        <p:spPr>
          <a:xfrm>
            <a:off x="6537960" y="411480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18"/>
          <p:cNvCxnSpPr/>
          <p:nvPr/>
        </p:nvCxnSpPr>
        <p:spPr>
          <a:xfrm>
            <a:off x="7973568" y="2240280"/>
            <a:ext cx="0" cy="128016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18"/>
          <p:cNvCxnSpPr/>
          <p:nvPr/>
        </p:nvCxnSpPr>
        <p:spPr>
          <a:xfrm>
            <a:off x="2871216" y="333756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18"/>
          <p:cNvCxnSpPr/>
          <p:nvPr/>
        </p:nvCxnSpPr>
        <p:spPr>
          <a:xfrm rot="10800000">
            <a:off x="1348740" y="3520440"/>
            <a:ext cx="6624828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18"/>
          <p:cNvCxnSpPr/>
          <p:nvPr/>
        </p:nvCxnSpPr>
        <p:spPr>
          <a:xfrm>
            <a:off x="1348740" y="3520440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18"/>
          <p:cNvCxnSpPr/>
          <p:nvPr/>
        </p:nvCxnSpPr>
        <p:spPr>
          <a:xfrm>
            <a:off x="7795260" y="4526280"/>
            <a:ext cx="0" cy="365760"/>
          </a:xfrm>
          <a:prstGeom prst="straightConnector1">
            <a:avLst/>
          </a:prstGeom>
          <a:noFill/>
          <a:ln cap="flat" cmpd="sng" w="15875">
            <a:solidFill>
              <a:srgbClr val="8843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9" name="Google Shape;129;p18"/>
          <p:cNvCxnSpPr/>
          <p:nvPr/>
        </p:nvCxnSpPr>
        <p:spPr>
          <a:xfrm rot="10800000">
            <a:off x="3497580" y="4892040"/>
            <a:ext cx="4297680" cy="0"/>
          </a:xfrm>
          <a:prstGeom prst="straightConnector1">
            <a:avLst/>
          </a:prstGeom>
          <a:noFill/>
          <a:ln cap="flat" cmpd="sng" w="15875">
            <a:solidFill>
              <a:srgbClr val="8843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0" name="Google Shape;130;p18"/>
          <p:cNvCxnSpPr/>
          <p:nvPr/>
        </p:nvCxnSpPr>
        <p:spPr>
          <a:xfrm rot="10800000">
            <a:off x="3497580" y="4526280"/>
            <a:ext cx="0" cy="365760"/>
          </a:xfrm>
          <a:prstGeom prst="straightConnector1">
            <a:avLst/>
          </a:prstGeom>
          <a:noFill/>
          <a:ln cap="flat" cmpd="sng" w="15875">
            <a:solidFill>
              <a:srgbClr val="8843FF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31" name="Google Shape;131;p18"/>
          <p:cNvSpPr txBox="1"/>
          <p:nvPr/>
        </p:nvSpPr>
        <p:spPr>
          <a:xfrm>
            <a:off x="4297680" y="459028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8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rejection and LLM regeneration of questions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>
            <a:off x="476208" y="1581699"/>
            <a:ext cx="387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“Deep Learning and Computer Vision” — Harbour Space 2026, S. Nikolenko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793081" y="1581506"/>
            <a:ext cx="3869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Dense math: formulas and terminology stress both STT and summarization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73656" y="2387964"/>
            <a:ext cx="387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labeling: a 19.5-min golden transcript for WER and 40 pairs for judge calibration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76250" y="4475558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lectures: video + slides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2634524" y="4475558"/>
            <a:ext cx="1715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lecture video in 1080p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793914" y="4475558"/>
            <a:ext cx="1716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pages (PDF)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6954421" y="4475764"/>
            <a:ext cx="1714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 attempts from 8 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476250" y="3963192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2634666" y="3963367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21.3 h</a:t>
            </a:r>
            <a:endParaRPr b="0"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4793081" y="3963475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619</a:t>
            </a:r>
            <a:endParaRPr b="0"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951497" y="3963583"/>
            <a:ext cx="171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49</a:t>
            </a:r>
            <a:endParaRPr b="0" i="0" sz="2625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8173388" y="416837"/>
            <a:ext cx="49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Data: a real course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333375" y="1579487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333375" y="2388285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4650015" y="1578879"/>
            <a:ext cx="5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E1: evaluating facts, not words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/>
          <p:nvPr/>
        </p:nvSpPr>
        <p:spPr>
          <a:xfrm>
            <a:off x="457200" y="1554480"/>
            <a:ext cx="1600200" cy="685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Slides (reconstr.)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157 claims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457200" y="2423160"/>
            <a:ext cx="1600200" cy="685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Transcript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526 claims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457200" y="3291840"/>
            <a:ext cx="1600200" cy="685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7C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Conspect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208 claims</a:t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2651760" y="2286000"/>
            <a:ext cx="173736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decomposition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atomic claims + salience: core / supporting / aside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4754880" y="2286000"/>
            <a:ext cx="173736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entails(claim, text)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top-16 embedding retrieval + strict LLM judge</a:t>
            </a:r>
            <a:endParaRPr/>
          </a:p>
        </p:txBody>
      </p:sp>
      <p:cxnSp>
        <p:nvCxnSpPr>
          <p:cNvPr id="166" name="Google Shape;166;p20"/>
          <p:cNvCxnSpPr/>
          <p:nvPr/>
        </p:nvCxnSpPr>
        <p:spPr>
          <a:xfrm>
            <a:off x="2057400" y="1897380"/>
            <a:ext cx="594360" cy="84582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p20"/>
          <p:cNvCxnSpPr/>
          <p:nvPr/>
        </p:nvCxnSpPr>
        <p:spPr>
          <a:xfrm flipH="1" rot="10800000">
            <a:off x="2057400" y="2743200"/>
            <a:ext cx="594360" cy="2286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20"/>
          <p:cNvCxnSpPr/>
          <p:nvPr/>
        </p:nvCxnSpPr>
        <p:spPr>
          <a:xfrm flipH="1" rot="10800000">
            <a:off x="2057400" y="2743200"/>
            <a:ext cx="594360" cy="89154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20"/>
          <p:cNvCxnSpPr/>
          <p:nvPr/>
        </p:nvCxnSpPr>
        <p:spPr>
          <a:xfrm>
            <a:off x="4389120" y="2743200"/>
            <a:ext cx="365760" cy="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20"/>
          <p:cNvSpPr/>
          <p:nvPr/>
        </p:nvSpPr>
        <p:spPr>
          <a:xfrm>
            <a:off x="6949440" y="1554480"/>
            <a:ext cx="1737360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(recall)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sources ⊑ conspect</a:t>
            </a:r>
            <a:endParaRPr/>
          </a:p>
        </p:txBody>
      </p:sp>
      <p:cxnSp>
        <p:nvCxnSpPr>
          <p:cNvPr id="171" name="Google Shape;171;p20"/>
          <p:cNvCxnSpPr/>
          <p:nvPr/>
        </p:nvCxnSpPr>
        <p:spPr>
          <a:xfrm flipH="1" rot="10800000">
            <a:off x="6492240" y="1943100"/>
            <a:ext cx="457200" cy="80010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" name="Google Shape;172;p20"/>
          <p:cNvSpPr/>
          <p:nvPr/>
        </p:nvSpPr>
        <p:spPr>
          <a:xfrm>
            <a:off x="6949440" y="2468880"/>
            <a:ext cx="1737360" cy="7772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Faithfulness (precision)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conspect ⊑ sources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6492240" y="2743200"/>
            <a:ext cx="457200" cy="11430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" name="Google Shape;174;p20"/>
          <p:cNvSpPr/>
          <p:nvPr/>
        </p:nvSpPr>
        <p:spPr>
          <a:xfrm>
            <a:off x="6949440" y="3383280"/>
            <a:ext cx="1737360" cy="8686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884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Transcript-only coverage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7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spoken but not on slides: the share surviving into the conspect</a:t>
            </a:r>
            <a:endParaRPr/>
          </a:p>
        </p:txBody>
      </p:sp>
      <p:cxnSp>
        <p:nvCxnSpPr>
          <p:cNvPr id="175" name="Google Shape;175;p20"/>
          <p:cNvCxnSpPr/>
          <p:nvPr/>
        </p:nvCxnSpPr>
        <p:spPr>
          <a:xfrm>
            <a:off x="6492240" y="2743200"/>
            <a:ext cx="457200" cy="1074420"/>
          </a:xfrm>
          <a:prstGeom prst="straightConnector1">
            <a:avLst/>
          </a:prstGeom>
          <a:noFill/>
          <a:ln cap="flat" cmpd="sng" w="15875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20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One entailment mechanism — three judged directions; judge validated manually: κ = 0.95 on 40 pairs, zero false positives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380593" y="4326797"/>
            <a:ext cx="2103120" cy="344400"/>
          </a:xfrm>
          <a:prstGeom prst="roundRect">
            <a:avLst>
              <a:gd fmla="val -265404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E1: all metrics improve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476208" y="1581699"/>
            <a:ext cx="387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Means over the 8 held-out lectures — lecture 6, used for pipeline calibration, is excluded. The full pipeline wins on every metric on every lecture (including it shifts the means by ≤0.7 pp).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8089402" y="416825"/>
            <a:ext cx="578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476250" y="4404625"/>
            <a:ext cx="1920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F1: 53.4 → 70.9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57200" y="2532888"/>
            <a:ext cx="128016" cy="128016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658368" y="250545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baseline (raw ASR conspect)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457200" y="2788920"/>
            <a:ext cx="128016" cy="12801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658368" y="2761488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full pipeline (reconstructed transcript)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389120" y="1371600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50" u="none" cap="none" strike="noStrike">
                <a:solidFill>
                  <a:srgbClr val="0B0B0B"/>
                </a:solidFill>
                <a:latin typeface="Inter"/>
                <a:ea typeface="Inter"/>
                <a:cs typeface="Inter"/>
                <a:sym typeface="Inter"/>
              </a:rPr>
              <a:t>Coverage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4389120" y="1591056"/>
            <a:ext cx="1405249" cy="13716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867521" y="157734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45.2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4389120" y="1764792"/>
            <a:ext cx="1964862" cy="1371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427134" y="176022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63.2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4389120" y="2103120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50" u="none" cap="none" strike="noStrike">
                <a:solidFill>
                  <a:srgbClr val="0B0B0B"/>
                </a:solidFill>
                <a:latin typeface="Inter"/>
                <a:ea typeface="Inter"/>
                <a:cs typeface="Inter"/>
                <a:sym typeface="Inter"/>
              </a:rPr>
              <a:t>Faithfulness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4389120" y="2322576"/>
            <a:ext cx="2064349" cy="13716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6526621" y="2308860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66.4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4389120" y="2496312"/>
            <a:ext cx="2521366" cy="1371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6983638" y="249173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81.1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389120" y="2834639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50" u="none" cap="none" strike="noStrike">
                <a:solidFill>
                  <a:srgbClr val="0B0B0B"/>
                </a:solidFill>
                <a:latin typeface="Inter"/>
                <a:ea typeface="Inter"/>
                <a:cs typeface="Inter"/>
                <a:sym typeface="Inter"/>
              </a:rPr>
              <a:t>F1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4389120" y="3054096"/>
            <a:ext cx="1660184" cy="13716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6122456" y="304037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53.4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4389120" y="3227832"/>
            <a:ext cx="2204252" cy="1371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666524" y="322325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70.9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389120" y="3566159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050" u="none" cap="none" strike="noStrike">
                <a:solidFill>
                  <a:srgbClr val="0B0B0B"/>
                </a:solidFill>
                <a:latin typeface="Inter"/>
                <a:ea typeface="Inter"/>
                <a:cs typeface="Inter"/>
                <a:sym typeface="Inter"/>
              </a:rPr>
              <a:t>Spoken-fact retention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4389120" y="3785615"/>
            <a:ext cx="1165860" cy="13716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628132" y="377189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5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37.5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4389120" y="3959351"/>
            <a:ext cx="1523390" cy="13716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985662" y="3954779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95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49.0</a:t>
            </a:r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475488" y="3090672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Inter"/>
              </a:rPr>
              <a:t>Zero proven hallucinations</a:t>
            </a:r>
          </a:p>
          <a:p>
            <a:r>
              <a:rPr sz="1000">
                <a:solidFill>
                  <a:srgbClr val="666670"/>
                </a:solidFill>
                <a:latin typeface="Inter"/>
              </a:rPr>
              <a:t>Manual audit (lecture 1) of the 9 most suspicious “unsupported” claims (names, dates, history): all grounded in transcript or slides. Flags are retrieval misses on ASR-garbled speech (“Kasparov” → “Casper off”) — true faithfulness likely &gt; 0.9.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/>
          <p:nvPr/>
        </p:nvSpPr>
        <p:spPr>
          <a:xfrm>
            <a:off x="476208" y="2651760"/>
            <a:ext cx="6654000" cy="16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LLM judge calibrated: κ = 0.95 on 40 manual pairs.</a:t>
            </a: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Zero false positives, one miss.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8004154" y="416825"/>
            <a:ext cx="6633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E2: WER 7× lower than the cloud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476208" y="1581699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Word error rate (WER) on the 19.5-min golden fragment — lower is better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476208" y="2572634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whisper.cpp — local, free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4982419" y="2573304"/>
            <a:ext cx="38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STT — cloud, paid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8032578" y="416825"/>
            <a:ext cx="634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68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solidFill>
            <a:srgbClr val="ECEC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457200" y="3246120"/>
            <a:ext cx="420623" cy="32004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457200" y="3703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2.3 %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3200400" y="37673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scale 0–20 %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4937760" y="3246120"/>
            <a:ext cx="3657600" cy="320040"/>
          </a:xfrm>
          <a:prstGeom prst="rect">
            <a:avLst/>
          </a:prstGeom>
          <a:solidFill>
            <a:srgbClr val="ECEC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4937760" y="3246120"/>
            <a:ext cx="2980944" cy="320040"/>
          </a:xfrm>
          <a:prstGeom prst="rect">
            <a:avLst/>
          </a:prstGeom>
          <a:solidFill>
            <a:srgbClr val="C7C7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4937760" y="3703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16.3 %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7680960" y="37673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00" u="none" cap="none" strike="noStrike">
                <a:solidFill>
                  <a:srgbClr val="666670"/>
                </a:solidFill>
                <a:latin typeface="Inter"/>
                <a:ea typeface="Inter"/>
                <a:cs typeface="Inter"/>
                <a:sym typeface="Inter"/>
              </a:rPr>
              <a:t>scale 0–20 %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E3: the quiz improves itself</a:t>
            </a:r>
            <a:endParaRPr b="0" i="0" sz="2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476208" y="2509129"/>
            <a:ext cx="249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quiz.json — 5 live questions per lecture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3322142" y="2508936"/>
            <a:ext cx="249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 answer in the web app; attempts are written to 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476193" y="1662400"/>
            <a:ext cx="6912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Classical test theory over real student attempts — the loop is closed:</a:t>
            </a:r>
            <a:endParaRPr b="0" i="0" sz="13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476208" y="2296524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3323786" y="2297045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476208" y="4092701"/>
            <a:ext cx="249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Rejection: p ∉ [0.30, 0.85] or r_pb &lt; 0.15 → the question is archived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3322142" y="4092508"/>
            <a:ext cx="2492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LLM writes a replacement, given the measured stats and typical mistakes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476208" y="3880097"/>
            <a:ext cx="249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3323786" y="3880617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6170628" y="2508896"/>
            <a:ext cx="249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analysis: difficulty p and discrimination r_pb for every 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6172272" y="2297005"/>
            <a:ext cx="2494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E3: results on live data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457200" y="14813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web app collected 49 attempts from 8 respondents across all 9 quizzes (July 16–18, 2026); scores 0–5, mean 3.06, SD 1.54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457200" y="2057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33/45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45720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pass the rejection rule (73 %)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2651760" y="2057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0.61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265176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difficulty p — inside the target window [0.30, 0.85]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4754880" y="2057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+0.42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475488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discrimination r_pb (7 questions below 0)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6949440" y="2057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6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3/9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6949440" y="25146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quizzes fully clean: lectures 04, 08, 09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457200" y="33375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457200" y="3611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 easy (2): p = 1.00, everyone answers correctly, r_pb undefined — regenerate into a subtler probe of the same topic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3291840" y="33375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3291840" y="3611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 hard (4): p = 0.20; two lecture-7 questions with r_pb = +0.71 and a shared distractor — manual answer-key check first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6126480" y="33375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200" u="none" cap="none" strike="noStrike">
                <a:solidFill>
                  <a:srgbClr val="8843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6126480" y="361188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Non-discriminating (6): r_pb from −0.69 to −0.08 — strong respondents miss them; worst quiz — lecture 3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" sz="850" u="none" cap="none" strike="noStrike">
                <a:solidFill>
                  <a:srgbClr val="5A5A64"/>
                </a:solidFill>
                <a:latin typeface="Arial"/>
                <a:ea typeface="Arial"/>
                <a:cs typeface="Arial"/>
                <a:sym typeface="Arial"/>
              </a:rPr>
              <a:t>Sample-size caveat: 5–6 attempts per question — p granularity 0.17–0.20, a single respondent shifts r_pb by ±0.5; estimates are noisy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/>
          <p:nvPr/>
        </p:nvSpPr>
        <p:spPr>
          <a:xfrm>
            <a:off x="476250" y="906158"/>
            <a:ext cx="5566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Status and plans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476208" y="2509129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End-to-end pipeline: STT → reconstruction → conspect → quiz → web; E1 engine and judge (κ = 0.95)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4754880" y="2508936"/>
            <a:ext cx="384048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Numbers on the dev lecture: F1 72.6 %; WER 2.3 % vs 16.3 %; E3 in production: 49 attempts, 33/45 questions valid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476198" y="1662400"/>
            <a:ext cx="7772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pipeline runs end-to-end; experiments E1–E3 are set up and produced numbers:</a:t>
            </a:r>
            <a:endParaRPr b="0" i="0" sz="1313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476208" y="2296524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Done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4754880" y="2297045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Done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476208" y="4092701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Frozen pipeline on 8 held-out lectures; E2 latency and cost 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4754880" y="4092508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Regenerate the 12 rejected questions and re-measure; ablations: conspect quality and top-k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476208" y="3880097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Next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4754880" y="3880617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Next</a:t>
            </a:r>
            <a:endParaRPr b="0" i="0" sz="1200" u="none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1" name="Google Shape;2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20900"/>
            <a:ext cx="1536343" cy="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/>
          <p:nvPr/>
        </p:nvSpPr>
        <p:spPr>
          <a:xfrm>
            <a:off x="476250" y="476250"/>
            <a:ext cx="6510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ru" sz="4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 b="0" i="0" sz="4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2277553" y="1828350"/>
            <a:ext cx="438912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ru" sz="2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Shamil Arslanov</a:t>
            </a:r>
            <a:endParaRPr b="0" i="0" sz="26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2324903" y="2304943"/>
            <a:ext cx="438912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Science · Harbour Space</a:t>
            </a:r>
            <a:endParaRPr b="0" i="0" sz="13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2324903" y="2598230"/>
            <a:ext cx="43891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github.com/homomorfism/autosummary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2324903" y="2793161"/>
            <a:ext cx="43891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shamil.arslanov@axialent.com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https://pitch-assets-ccb95893-de3f-4266-973c-20049231b248.s3.eu-west-1.amazonaws.com/0e85026a-008d-4f73-b555-d556e9b7acd4?pitch-bytes=4898&amp;pitch-content-type=image%2Fsvg%2Bxml" id="302" name="Google Shape;3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574" y="4476231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fa381c9-5c10-4380-abee-d4f3f03ddc9d?pitch-bytes=3032&amp;pitch-content-type=image%2Fsvg%2Bxml" id="303" name="Google Shape;30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007" y="4534270"/>
            <a:ext cx="1673573" cy="13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4419750"/>
            <a:ext cx="1326484" cy="36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lfie.png" id="305" name="Google Shape;30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9788" y="1705050"/>
            <a:ext cx="1399032" cy="1399032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000000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